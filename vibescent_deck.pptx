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12"/>
  </p:notesMasterIdLst>
  <p:sldIdLst>
    <p:sldId id="256" r:id="rId2"/>
    <p:sldId id="257" r:id="rId3"/>
    <p:sldId id="269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7DF7FB-731F-A8BA-AFFB-E349474935B5}" v="231" dt="2026-04-20T03:21:34.784"/>
    <p1510:client id="{4B57405A-B093-2CD8-EB16-DD6F828DCFD4}" v="2" dt="2026-04-20T03:24:19.502"/>
    <p1510:client id="{C59526A5-5F74-8B49-BF4D-F50377627656}" v="1097" dt="2026-04-21T03:14:42.882"/>
    <p1510:client id="{F7C07343-24FD-0074-A903-B03B9A5CB710}" v="1" dt="2026-04-20T03:21:41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31"/>
  </p:normalViewPr>
  <p:slideViewPr>
    <p:cSldViewPr snapToGrid="0">
      <p:cViewPr varScale="1">
        <p:scale>
          <a:sx n="163" d="100"/>
          <a:sy n="163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E8796-8CBF-49A1-ACC2-E12F017E04D4}" type="datetimeFigureOut"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67BD2-D2F1-4C01-8887-B19AFBFE2C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66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52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438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7402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418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1483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24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200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416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3593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761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093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40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944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VibeScent</a:t>
            </a:r>
            <a:endParaRPr lang="en-US" sz="7200"/>
          </a:p>
        </p:txBody>
      </p:sp>
      <p:sp>
        <p:nvSpPr>
          <p:cNvPr id="4" name="Text 2"/>
          <p:cNvSpPr/>
          <p:nvPr/>
        </p:nvSpPr>
        <p:spPr>
          <a:xfrm>
            <a:off x="640080" y="2415647"/>
            <a:ext cx="685800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700" i="1">
                <a:solidFill>
                  <a:srgbClr val="C9A96E"/>
                </a:solidFill>
                <a:latin typeface="Georgia"/>
                <a:ea typeface="Georgia" pitchFamily="34" charset="-122"/>
                <a:cs typeface="Georgia" pitchFamily="34" charset="-120"/>
              </a:rPr>
              <a:t>Multimodal Fragrance Recommender via Zero-Shot Vision</a:t>
            </a:r>
            <a:endParaRPr lang="en-US" sz="1700">
              <a:latin typeface="Georgia"/>
            </a:endParaRPr>
          </a:p>
          <a:p>
            <a:r>
              <a:rPr lang="en-US" sz="1700" i="1">
                <a:solidFill>
                  <a:srgbClr val="C9A96E"/>
                </a:solidFill>
                <a:latin typeface="Georgia"/>
                <a:ea typeface="Georgia" pitchFamily="34" charset="-122"/>
                <a:cs typeface="Georgia" pitchFamily="34" charset="-120"/>
              </a:rPr>
              <a:t>and Semantic Context Retrieval</a:t>
            </a:r>
            <a:endParaRPr lang="en-US" sz="1700">
              <a:solidFill>
                <a:srgbClr val="000000"/>
              </a:solidFill>
              <a:latin typeface="Georgia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840480" cy="22860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50" kern="0" spc="150">
                <a:solidFill>
                  <a:srgbClr val="7A7060"/>
                </a:solidFill>
                <a:ea typeface="Calibri"/>
                <a:cs typeface="Calibri"/>
              </a:rPr>
              <a:t>Project Manager: Gavin Gong | Team: Darren Nguyen, </a:t>
            </a:r>
            <a:r>
              <a:rPr lang="en-US" sz="950" kern="0" spc="150">
                <a:solidFill>
                  <a:srgbClr val="7A7060"/>
                </a:solidFill>
                <a:ea typeface="+mn-lt"/>
                <a:cs typeface="+mn-lt"/>
              </a:rPr>
              <a:t>Harsh Agarwal, Karan Singh, Neil Bhattacharyya</a:t>
            </a:r>
            <a:endParaRPr lang="en-US" sz="950" kern="0" spc="150">
              <a:solidFill>
                <a:srgbClr val="7A7060"/>
              </a:solidFill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98080" y="1484785"/>
            <a:ext cx="402336" cy="402336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73568" y="1484785"/>
            <a:ext cx="402336" cy="402336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49056" y="1484785"/>
            <a:ext cx="402336" cy="402336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98080" y="1960273"/>
            <a:ext cx="402336" cy="402336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73568" y="1960273"/>
            <a:ext cx="402336" cy="402336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49056" y="1960273"/>
            <a:ext cx="402336" cy="402336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2435761"/>
            <a:ext cx="402336" cy="402336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73568" y="2435761"/>
            <a:ext cx="402336" cy="402336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49056" y="2435761"/>
            <a:ext cx="402336" cy="402336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68801" y="4572000"/>
            <a:ext cx="459232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700" kern="0" spc="200">
                <a:solidFill>
                  <a:srgbClr val="7A7060"/>
                </a:solidFill>
                <a:latin typeface="Calibri"/>
                <a:ea typeface="Calibri"/>
                <a:cs typeface="Calibri"/>
              </a:rPr>
              <a:t>BAC – MACHINE LEARNING - SPRING 2026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 flipV="1">
            <a:off x="614132" y="1942602"/>
            <a:ext cx="7767686" cy="12811"/>
          </a:xfrm>
          <a:prstGeom prst="line">
            <a:avLst/>
          </a:prstGeom>
          <a:noFill/>
          <a:ln w="19050">
            <a:solidFill>
              <a:srgbClr val="8A6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E565BCE-601D-9209-19A3-1F78BDA4F0A8}"/>
              </a:ext>
            </a:extLst>
          </p:cNvPr>
          <p:cNvGrpSpPr/>
          <p:nvPr/>
        </p:nvGrpSpPr>
        <p:grpSpPr>
          <a:xfrm>
            <a:off x="1792475" y="1037529"/>
            <a:ext cx="1312799" cy="1886336"/>
            <a:chOff x="384048" y="1005840"/>
            <a:chExt cx="1234440" cy="1188720"/>
          </a:xfrm>
        </p:grpSpPr>
        <p:sp>
          <p:nvSpPr>
            <p:cNvPr id="4" name="Shape 2"/>
            <p:cNvSpPr/>
            <p:nvPr/>
          </p:nvSpPr>
          <p:spPr>
            <a:xfrm>
              <a:off x="384048" y="1005840"/>
              <a:ext cx="1234440" cy="118872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384048" y="1069848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000"/>
            </a:p>
          </p:txBody>
        </p:sp>
        <p:sp>
          <p:nvSpPr>
            <p:cNvPr id="6" name="Text 4"/>
            <p:cNvSpPr/>
            <p:nvPr/>
          </p:nvSpPr>
          <p:spPr>
            <a:xfrm>
              <a:off x="384048" y="1353312"/>
              <a:ext cx="1234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kern="0" spc="1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 LAYER</a:t>
              </a:r>
              <a:endParaRPr lang="en-US" sz="950"/>
            </a:p>
          </p:txBody>
        </p:sp>
        <p:sp>
          <p:nvSpPr>
            <p:cNvPr id="7" name="Text 5"/>
            <p:cNvSpPr/>
            <p:nvPr/>
          </p:nvSpPr>
          <p:spPr>
            <a:xfrm>
              <a:off x="384048" y="1673352"/>
              <a:ext cx="1234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50">
                  <a:solidFill>
                    <a:srgbClr val="7A7060"/>
                  </a:solidFill>
                  <a:latin typeface="Calibri"/>
                  <a:ea typeface="Calibri"/>
                  <a:cs typeface="Calibri"/>
                </a:rPr>
                <a:t>Image + Text Input</a:t>
              </a:r>
              <a:endParaRPr lang="en-US" sz="85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1119F5F-CA07-0E6B-3FBB-148A8A8AD73A}"/>
              </a:ext>
            </a:extLst>
          </p:cNvPr>
          <p:cNvGrpSpPr/>
          <p:nvPr/>
        </p:nvGrpSpPr>
        <p:grpSpPr>
          <a:xfrm>
            <a:off x="3200902" y="1034325"/>
            <a:ext cx="1312799" cy="1886336"/>
            <a:chOff x="1719072" y="1005840"/>
            <a:chExt cx="1234442" cy="1188720"/>
          </a:xfrm>
        </p:grpSpPr>
        <p:sp>
          <p:nvSpPr>
            <p:cNvPr id="9" name="Shape 7"/>
            <p:cNvSpPr/>
            <p:nvPr/>
          </p:nvSpPr>
          <p:spPr>
            <a:xfrm>
              <a:off x="1719074" y="1005840"/>
              <a:ext cx="1234440" cy="118872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1719072" y="1069848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cs typeface="Calibri" pitchFamily="34" charset="-120"/>
                </a:rPr>
                <a:t>03</a:t>
              </a:r>
              <a:endParaRPr lang="en-US" sz="1000"/>
            </a:p>
          </p:txBody>
        </p:sp>
        <p:sp>
          <p:nvSpPr>
            <p:cNvPr id="11" name="Text 9"/>
            <p:cNvSpPr/>
            <p:nvPr/>
          </p:nvSpPr>
          <p:spPr>
            <a:xfrm>
              <a:off x="1755498" y="1353312"/>
              <a:ext cx="1161587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kern="0" spc="1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+ TEXT PROCESSESING</a:t>
              </a:r>
              <a:endParaRPr lang="en-US" sz="950"/>
            </a:p>
          </p:txBody>
        </p:sp>
        <p:sp>
          <p:nvSpPr>
            <p:cNvPr id="12" name="Text 10"/>
            <p:cNvSpPr/>
            <p:nvPr/>
          </p:nvSpPr>
          <p:spPr>
            <a:xfrm>
              <a:off x="1719072" y="1673352"/>
              <a:ext cx="1234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>
                  <a:solidFill>
                    <a:srgbClr val="7A7060"/>
                  </a:solidFill>
                  <a:latin typeface="Calibri" pitchFamily="34" charset="0"/>
                  <a:cs typeface="Calibri" pitchFamily="34" charset="-120"/>
                </a:rPr>
                <a:t>Vision + Sentence Transformers</a:t>
              </a:r>
              <a:endParaRPr lang="en-US" sz="85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49A6194-9834-EC5B-A11C-50574C7D70B6}"/>
              </a:ext>
            </a:extLst>
          </p:cNvPr>
          <p:cNvGrpSpPr/>
          <p:nvPr/>
        </p:nvGrpSpPr>
        <p:grpSpPr>
          <a:xfrm>
            <a:off x="4609327" y="1026462"/>
            <a:ext cx="1312797" cy="1886336"/>
            <a:chOff x="4389118" y="1005840"/>
            <a:chExt cx="1234442" cy="1188720"/>
          </a:xfrm>
        </p:grpSpPr>
        <p:sp>
          <p:nvSpPr>
            <p:cNvPr id="19" name="Shape 17"/>
            <p:cNvSpPr/>
            <p:nvPr/>
          </p:nvSpPr>
          <p:spPr>
            <a:xfrm>
              <a:off x="4389118" y="1005840"/>
              <a:ext cx="1234440" cy="118872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4389120" y="1069848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1000"/>
            </a:p>
          </p:txBody>
        </p:sp>
        <p:sp>
          <p:nvSpPr>
            <p:cNvPr id="21" name="Text 19"/>
            <p:cNvSpPr/>
            <p:nvPr/>
          </p:nvSpPr>
          <p:spPr>
            <a:xfrm>
              <a:off x="4423629" y="1356070"/>
              <a:ext cx="116541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00" b="1" kern="0" spc="1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VIBE VECTOR EXTRACTION</a:t>
              </a:r>
              <a:endParaRPr lang="en-US" sz="900"/>
            </a:p>
          </p:txBody>
        </p:sp>
        <p:sp>
          <p:nvSpPr>
            <p:cNvPr id="22" name="Text 20"/>
            <p:cNvSpPr/>
            <p:nvPr/>
          </p:nvSpPr>
          <p:spPr>
            <a:xfrm>
              <a:off x="4423629" y="1673352"/>
              <a:ext cx="116541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5-Dimensonal Classification</a:t>
              </a:r>
              <a:endParaRPr lang="en-US" sz="85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32BA398-8CBA-70B3-BCF3-5A25115CD7C3}"/>
              </a:ext>
            </a:extLst>
          </p:cNvPr>
          <p:cNvGrpSpPr/>
          <p:nvPr/>
        </p:nvGrpSpPr>
        <p:grpSpPr>
          <a:xfrm>
            <a:off x="6017748" y="1036366"/>
            <a:ext cx="1312795" cy="1886336"/>
            <a:chOff x="5724144" y="1005840"/>
            <a:chExt cx="1234440" cy="1188720"/>
          </a:xfrm>
        </p:grpSpPr>
        <p:sp>
          <p:nvSpPr>
            <p:cNvPr id="24" name="Shape 22"/>
            <p:cNvSpPr/>
            <p:nvPr/>
          </p:nvSpPr>
          <p:spPr>
            <a:xfrm>
              <a:off x="5724144" y="1005840"/>
              <a:ext cx="1234440" cy="118872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23"/>
            <p:cNvSpPr/>
            <p:nvPr/>
          </p:nvSpPr>
          <p:spPr>
            <a:xfrm>
              <a:off x="5724144" y="1069848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</a:t>
              </a:r>
              <a:endParaRPr lang="en-US" sz="1000"/>
            </a:p>
          </p:txBody>
        </p:sp>
        <p:sp>
          <p:nvSpPr>
            <p:cNvPr id="26" name="Text 24"/>
            <p:cNvSpPr/>
            <p:nvPr/>
          </p:nvSpPr>
          <p:spPr>
            <a:xfrm>
              <a:off x="5724144" y="1353312"/>
              <a:ext cx="1234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50" b="1" kern="0" spc="100">
                  <a:solidFill>
                    <a:srgbClr val="F5F0E8"/>
                  </a:solidFill>
                  <a:ea typeface="Calibri"/>
                  <a:cs typeface="Calibri"/>
                </a:rPr>
                <a:t>RECOMMEND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5724144" y="1673352"/>
              <a:ext cx="1234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Partition + Compare</a:t>
              </a:r>
              <a:endParaRPr lang="en-US" sz="85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EDA9886-FF77-4C1F-C8DE-21F8139DFDA7}"/>
              </a:ext>
            </a:extLst>
          </p:cNvPr>
          <p:cNvGrpSpPr/>
          <p:nvPr/>
        </p:nvGrpSpPr>
        <p:grpSpPr>
          <a:xfrm>
            <a:off x="7421109" y="1034325"/>
            <a:ext cx="1312796" cy="1886336"/>
            <a:chOff x="7059168" y="1005840"/>
            <a:chExt cx="1234440" cy="1188720"/>
          </a:xfrm>
        </p:grpSpPr>
        <p:sp>
          <p:nvSpPr>
            <p:cNvPr id="29" name="Shape 27"/>
            <p:cNvSpPr/>
            <p:nvPr/>
          </p:nvSpPr>
          <p:spPr>
            <a:xfrm>
              <a:off x="7059168" y="1005840"/>
              <a:ext cx="1234440" cy="118872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7059168" y="1069848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06</a:t>
              </a:r>
              <a:endParaRPr lang="en-US" sz="1000"/>
            </a:p>
          </p:txBody>
        </p:sp>
        <p:sp>
          <p:nvSpPr>
            <p:cNvPr id="31" name="Text 29"/>
            <p:cNvSpPr/>
            <p:nvPr/>
          </p:nvSpPr>
          <p:spPr>
            <a:xfrm>
              <a:off x="7059168" y="1353312"/>
              <a:ext cx="1234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950" b="1" kern="0" spc="100">
                  <a:solidFill>
                    <a:srgbClr val="F5F0E8"/>
                  </a:solidFill>
                  <a:latin typeface="Calibri"/>
                  <a:ea typeface="Calibri"/>
                  <a:cs typeface="Calibri"/>
                </a:rPr>
                <a:t>WEB SCRAPE</a:t>
              </a:r>
              <a:endParaRPr lang="en-US" sz="950"/>
            </a:p>
          </p:txBody>
        </p:sp>
        <p:sp>
          <p:nvSpPr>
            <p:cNvPr id="32" name="Text 30"/>
            <p:cNvSpPr/>
            <p:nvPr/>
          </p:nvSpPr>
          <p:spPr>
            <a:xfrm>
              <a:off x="7059168" y="1673352"/>
              <a:ext cx="1234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SerpAPI + Google Shop</a:t>
              </a:r>
              <a:endParaRPr lang="en-US" sz="850"/>
            </a:p>
          </p:txBody>
        </p:sp>
      </p:grpSp>
      <p:sp>
        <p:nvSpPr>
          <p:cNvPr id="33" name="Text 31"/>
          <p:cNvSpPr/>
          <p:nvPr/>
        </p:nvSpPr>
        <p:spPr>
          <a:xfrm>
            <a:off x="384048" y="3816916"/>
            <a:ext cx="1828800" cy="261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8C72883-D7D9-7CD5-0267-F459AC89AC96}"/>
              </a:ext>
            </a:extLst>
          </p:cNvPr>
          <p:cNvGrpSpPr/>
          <p:nvPr/>
        </p:nvGrpSpPr>
        <p:grpSpPr>
          <a:xfrm>
            <a:off x="384048" y="4130464"/>
            <a:ext cx="1312799" cy="309294"/>
            <a:chOff x="384047" y="4137660"/>
            <a:chExt cx="1765183" cy="309294"/>
          </a:xfrm>
        </p:grpSpPr>
        <p:sp>
          <p:nvSpPr>
            <p:cNvPr id="34" name="Shape 32"/>
            <p:cNvSpPr/>
            <p:nvPr/>
          </p:nvSpPr>
          <p:spPr>
            <a:xfrm>
              <a:off x="384047" y="4137660"/>
              <a:ext cx="1765183" cy="309294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35" name="Text 33"/>
            <p:cNvSpPr/>
            <p:nvPr/>
          </p:nvSpPr>
          <p:spPr>
            <a:xfrm>
              <a:off x="384047" y="4137660"/>
              <a:ext cx="1765183" cy="309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>
                  <a:solidFill>
                    <a:srgbClr val="7A7060"/>
                  </a:solidFill>
                  <a:ea typeface="Calibri"/>
                  <a:cs typeface="Calibri"/>
                </a:rPr>
                <a:t>llama-3.1-8b-instant</a:t>
              </a:r>
              <a:endParaRPr lang="en-US" sz="100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0E3F6C7-9F19-ED75-4E43-6BCEE9D6DB86}"/>
              </a:ext>
            </a:extLst>
          </p:cNvPr>
          <p:cNvGrpSpPr/>
          <p:nvPr/>
        </p:nvGrpSpPr>
        <p:grpSpPr>
          <a:xfrm>
            <a:off x="1792475" y="4130464"/>
            <a:ext cx="1312799" cy="309294"/>
            <a:chOff x="1719071" y="4137660"/>
            <a:chExt cx="1765183" cy="309294"/>
          </a:xfrm>
        </p:grpSpPr>
        <p:sp>
          <p:nvSpPr>
            <p:cNvPr id="36" name="Shape 34"/>
            <p:cNvSpPr/>
            <p:nvPr/>
          </p:nvSpPr>
          <p:spPr>
            <a:xfrm>
              <a:off x="1719071" y="4137660"/>
              <a:ext cx="1765183" cy="309294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37" name="Text 35"/>
            <p:cNvSpPr/>
            <p:nvPr/>
          </p:nvSpPr>
          <p:spPr>
            <a:xfrm>
              <a:off x="1719071" y="4137660"/>
              <a:ext cx="1765183" cy="309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>
                  <a:solidFill>
                    <a:srgbClr val="7A7060"/>
                  </a:solidFill>
                  <a:ea typeface="Calibri"/>
                  <a:cs typeface="Calibri"/>
                </a:rPr>
                <a:t>all-MiniLM-L6-v2</a:t>
              </a:r>
              <a:endParaRPr lang="en-US" sz="100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00480C6-8FAE-546C-19EB-D2D38C72F37F}"/>
              </a:ext>
            </a:extLst>
          </p:cNvPr>
          <p:cNvGrpSpPr/>
          <p:nvPr/>
        </p:nvGrpSpPr>
        <p:grpSpPr>
          <a:xfrm>
            <a:off x="3200902" y="4129547"/>
            <a:ext cx="1312799" cy="309294"/>
            <a:chOff x="3054095" y="4137660"/>
            <a:chExt cx="1765183" cy="309294"/>
          </a:xfrm>
        </p:grpSpPr>
        <p:sp>
          <p:nvSpPr>
            <p:cNvPr id="38" name="Shape 36"/>
            <p:cNvSpPr/>
            <p:nvPr/>
          </p:nvSpPr>
          <p:spPr>
            <a:xfrm>
              <a:off x="3054095" y="4137660"/>
              <a:ext cx="1765183" cy="309294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39" name="Text 37"/>
            <p:cNvSpPr/>
            <p:nvPr/>
          </p:nvSpPr>
          <p:spPr>
            <a:xfrm>
              <a:off x="3054095" y="4137660"/>
              <a:ext cx="1765183" cy="309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>
                  <a:solidFill>
                    <a:srgbClr val="7A7060"/>
                  </a:solidFill>
                  <a:ea typeface="Calibri"/>
                  <a:cs typeface="Calibri"/>
                </a:rPr>
                <a:t>clip-vit-large-patch14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4E0D9E-C076-F5F8-9475-89C07272393A}"/>
              </a:ext>
            </a:extLst>
          </p:cNvPr>
          <p:cNvGrpSpPr/>
          <p:nvPr/>
        </p:nvGrpSpPr>
        <p:grpSpPr>
          <a:xfrm>
            <a:off x="4609329" y="4129547"/>
            <a:ext cx="1312799" cy="309294"/>
            <a:chOff x="4389119" y="4137660"/>
            <a:chExt cx="1765183" cy="309294"/>
          </a:xfrm>
        </p:grpSpPr>
        <p:sp>
          <p:nvSpPr>
            <p:cNvPr id="40" name="Shape 38"/>
            <p:cNvSpPr/>
            <p:nvPr/>
          </p:nvSpPr>
          <p:spPr>
            <a:xfrm>
              <a:off x="4389119" y="4137660"/>
              <a:ext cx="1765183" cy="309294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41" name="Text 39"/>
            <p:cNvSpPr/>
            <p:nvPr/>
          </p:nvSpPr>
          <p:spPr>
            <a:xfrm>
              <a:off x="4389119" y="4137660"/>
              <a:ext cx="1765183" cy="309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err="1">
                  <a:solidFill>
                    <a:srgbClr val="7A7060"/>
                  </a:solidFill>
                  <a:ea typeface="Calibri"/>
                  <a:cs typeface="Calibri"/>
                </a:rPr>
                <a:t>KMeans</a:t>
              </a:r>
              <a:r>
                <a:rPr lang="en-US" sz="1000">
                  <a:solidFill>
                    <a:srgbClr val="7A7060"/>
                  </a:solidFill>
                  <a:ea typeface="Calibri"/>
                  <a:cs typeface="Calibri"/>
                </a:rPr>
                <a:t> Clustering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DC82C0-787D-3C40-1B4A-E4F84E0B733F}"/>
              </a:ext>
            </a:extLst>
          </p:cNvPr>
          <p:cNvGrpSpPr/>
          <p:nvPr/>
        </p:nvGrpSpPr>
        <p:grpSpPr>
          <a:xfrm>
            <a:off x="6017756" y="4135141"/>
            <a:ext cx="1316342" cy="309294"/>
            <a:chOff x="5719379" y="4137660"/>
            <a:chExt cx="1769947" cy="309294"/>
          </a:xfrm>
        </p:grpSpPr>
        <p:sp>
          <p:nvSpPr>
            <p:cNvPr id="42" name="Shape 40"/>
            <p:cNvSpPr/>
            <p:nvPr/>
          </p:nvSpPr>
          <p:spPr>
            <a:xfrm>
              <a:off x="5724143" y="4137660"/>
              <a:ext cx="1765183" cy="309294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43" name="Text 41"/>
            <p:cNvSpPr/>
            <p:nvPr/>
          </p:nvSpPr>
          <p:spPr>
            <a:xfrm>
              <a:off x="5719379" y="4137660"/>
              <a:ext cx="1765183" cy="309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>
                  <a:solidFill>
                    <a:srgbClr val="7A7060"/>
                  </a:solidFill>
                  <a:ea typeface="Calibri"/>
                  <a:cs typeface="Calibri"/>
                </a:rPr>
                <a:t>Cosine Similarity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7DBDD4A-84B5-1BB1-C6DD-0772C9BE61DF}"/>
              </a:ext>
            </a:extLst>
          </p:cNvPr>
          <p:cNvGrpSpPr/>
          <p:nvPr/>
        </p:nvGrpSpPr>
        <p:grpSpPr>
          <a:xfrm>
            <a:off x="7426183" y="4129547"/>
            <a:ext cx="1312799" cy="320964"/>
            <a:chOff x="6758152" y="4137660"/>
            <a:chExt cx="2066198" cy="320964"/>
          </a:xfrm>
        </p:grpSpPr>
        <p:sp>
          <p:nvSpPr>
            <p:cNvPr id="44" name="Shape 42"/>
            <p:cNvSpPr/>
            <p:nvPr/>
          </p:nvSpPr>
          <p:spPr>
            <a:xfrm>
              <a:off x="6758152" y="4137660"/>
              <a:ext cx="2066198" cy="309294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 sz="1000"/>
            </a:p>
          </p:txBody>
        </p:sp>
        <p:sp>
          <p:nvSpPr>
            <p:cNvPr id="45" name="Text 43"/>
            <p:cNvSpPr/>
            <p:nvPr/>
          </p:nvSpPr>
          <p:spPr>
            <a:xfrm>
              <a:off x="6908659" y="4149330"/>
              <a:ext cx="1765183" cy="309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err="1">
                  <a:solidFill>
                    <a:srgbClr val="7A7060"/>
                  </a:solidFill>
                  <a:ea typeface="Calibri"/>
                  <a:cs typeface="Calibri"/>
                </a:rPr>
                <a:t>SerpAPI</a:t>
              </a:r>
              <a:r>
                <a:rPr lang="en-US" sz="1000">
                  <a:solidFill>
                    <a:srgbClr val="7A7060"/>
                  </a:solidFill>
                  <a:ea typeface="Calibri"/>
                  <a:cs typeface="Calibri"/>
                </a:rPr>
                <a:t>  ·  requests</a:t>
              </a:r>
            </a:p>
          </p:txBody>
        </p:sp>
      </p:grpSp>
      <p:sp>
        <p:nvSpPr>
          <p:cNvPr id="47" name="Shape 45"/>
          <p:cNvSpPr/>
          <p:nvPr/>
        </p:nvSpPr>
        <p:spPr>
          <a:xfrm>
            <a:off x="384048" y="3330775"/>
            <a:ext cx="8349857" cy="45719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E1015D-5194-8E04-DD79-C1DE8AD4C157}"/>
              </a:ext>
            </a:extLst>
          </p:cNvPr>
          <p:cNvGrpSpPr/>
          <p:nvPr/>
        </p:nvGrpSpPr>
        <p:grpSpPr>
          <a:xfrm>
            <a:off x="384048" y="1034325"/>
            <a:ext cx="1312799" cy="1886336"/>
            <a:chOff x="384048" y="1005840"/>
            <a:chExt cx="1234440" cy="1188720"/>
          </a:xfrm>
        </p:grpSpPr>
        <p:sp>
          <p:nvSpPr>
            <p:cNvPr id="18" name="Shape 2">
              <a:extLst>
                <a:ext uri="{FF2B5EF4-FFF2-40B4-BE49-F238E27FC236}">
                  <a16:creationId xmlns:a16="http://schemas.microsoft.com/office/drawing/2014/main" id="{A3CF0F17-8297-CDE5-96A7-7D8241D7D3F1}"/>
                </a:ext>
              </a:extLst>
            </p:cNvPr>
            <p:cNvSpPr/>
            <p:nvPr/>
          </p:nvSpPr>
          <p:spPr>
            <a:xfrm>
              <a:off x="384048" y="1005840"/>
              <a:ext cx="1234440" cy="118872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5E03F01F-710F-536D-93E5-7FB0E4F9A2FD}"/>
                </a:ext>
              </a:extLst>
            </p:cNvPr>
            <p:cNvSpPr/>
            <p:nvPr/>
          </p:nvSpPr>
          <p:spPr>
            <a:xfrm>
              <a:off x="384048" y="1069848"/>
              <a:ext cx="1234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000"/>
            </a:p>
          </p:txBody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9D17C16A-C806-F34B-0282-D0D2496AB064}"/>
                </a:ext>
              </a:extLst>
            </p:cNvPr>
            <p:cNvSpPr/>
            <p:nvPr/>
          </p:nvSpPr>
          <p:spPr>
            <a:xfrm>
              <a:off x="384048" y="1353312"/>
              <a:ext cx="1234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kern="0" spc="1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PREP</a:t>
              </a:r>
              <a:endParaRPr lang="en-US" sz="950"/>
            </a:p>
          </p:txBody>
        </p:sp>
        <p:sp>
          <p:nvSpPr>
            <p:cNvPr id="46" name="Text 5">
              <a:extLst>
                <a:ext uri="{FF2B5EF4-FFF2-40B4-BE49-F238E27FC236}">
                  <a16:creationId xmlns:a16="http://schemas.microsoft.com/office/drawing/2014/main" id="{923573B7-1544-4FBE-644A-8089D0505F86}"/>
                </a:ext>
              </a:extLst>
            </p:cNvPr>
            <p:cNvSpPr/>
            <p:nvPr/>
          </p:nvSpPr>
          <p:spPr>
            <a:xfrm>
              <a:off x="384048" y="1673352"/>
              <a:ext cx="12344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850">
                  <a:solidFill>
                    <a:srgbClr val="7A7060"/>
                  </a:solidFill>
                  <a:latin typeface="Calibri"/>
                  <a:ea typeface="Calibri"/>
                  <a:cs typeface="Calibri"/>
                </a:rPr>
                <a:t>Collecting + Processing Data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01 — Data Prep</a:t>
            </a:r>
            <a:endParaRPr lang="en-US" sz="280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087CBA8-D129-AE56-DFF2-2094F03686CA}"/>
              </a:ext>
            </a:extLst>
          </p:cNvPr>
          <p:cNvGrpSpPr/>
          <p:nvPr/>
        </p:nvGrpSpPr>
        <p:grpSpPr>
          <a:xfrm>
            <a:off x="2130552" y="803758"/>
            <a:ext cx="1554480" cy="201168"/>
            <a:chOff x="3337560" y="804672"/>
            <a:chExt cx="2194560" cy="201168"/>
          </a:xfrm>
        </p:grpSpPr>
        <p:sp>
          <p:nvSpPr>
            <p:cNvPr id="8" name="Shape 6"/>
            <p:cNvSpPr/>
            <p:nvPr/>
          </p:nvSpPr>
          <p:spPr>
            <a:xfrm>
              <a:off x="3337560" y="804672"/>
              <a:ext cx="2194560" cy="201168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374136" y="813816"/>
              <a:ext cx="212140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kern="0" spc="1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llama-3.1-8b-instant</a:t>
              </a:r>
              <a:endParaRPr lang="en-US" sz="750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DE148E4-E18C-46D9-5938-92DDA0986507}"/>
              </a:ext>
            </a:extLst>
          </p:cNvPr>
          <p:cNvGrpSpPr/>
          <p:nvPr/>
        </p:nvGrpSpPr>
        <p:grpSpPr>
          <a:xfrm>
            <a:off x="2523744" y="1175207"/>
            <a:ext cx="2011680" cy="3044951"/>
            <a:chOff x="411480" y="1051560"/>
            <a:chExt cx="2011680" cy="3154680"/>
          </a:xfrm>
        </p:grpSpPr>
        <p:sp>
          <p:nvSpPr>
            <p:cNvPr id="10" name="Shape 8"/>
            <p:cNvSpPr/>
            <p:nvPr/>
          </p:nvSpPr>
          <p:spPr>
            <a:xfrm>
              <a:off x="411480" y="1051560"/>
              <a:ext cx="2011680" cy="315468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11480" y="1143000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000"/>
            </a:p>
          </p:txBody>
        </p:sp>
        <p:sp>
          <p:nvSpPr>
            <p:cNvPr id="12" name="Text 10"/>
            <p:cNvSpPr/>
            <p:nvPr/>
          </p:nvSpPr>
          <p:spPr>
            <a:xfrm>
              <a:off x="411480" y="1389888"/>
              <a:ext cx="20116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>
                  <a:solidFill>
                    <a:srgbClr val="F5F0E8"/>
                  </a:solidFill>
                  <a:latin typeface="Georgia" pitchFamily="34" charset="0"/>
                </a:rPr>
                <a:t>Text Embedding</a:t>
              </a:r>
              <a:endParaRPr lang="en-US" sz="1500"/>
            </a:p>
          </p:txBody>
        </p:sp>
        <p:sp>
          <p:nvSpPr>
            <p:cNvPr id="13" name="Text 11"/>
            <p:cNvSpPr/>
            <p:nvPr/>
          </p:nvSpPr>
          <p:spPr>
            <a:xfrm>
              <a:off x="411480" y="172821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i="1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all-MiniLM-L6-v2</a:t>
              </a:r>
              <a:endParaRPr lang="en-US" sz="750"/>
            </a:p>
          </p:txBody>
        </p:sp>
        <p:sp>
          <p:nvSpPr>
            <p:cNvPr id="14" name="Shape 12"/>
            <p:cNvSpPr/>
            <p:nvPr/>
          </p:nvSpPr>
          <p:spPr>
            <a:xfrm>
              <a:off x="594360" y="1947672"/>
              <a:ext cx="1645920" cy="16459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521208" y="2039112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800"/>
            </a:p>
          </p:txBody>
        </p:sp>
        <p:sp>
          <p:nvSpPr>
            <p:cNvPr id="16" name="Text 14"/>
            <p:cNvSpPr/>
            <p:nvPr/>
          </p:nvSpPr>
          <p:spPr>
            <a:xfrm>
              <a:off x="521208" y="2215324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Combines fragrance notes + accords</a:t>
              </a:r>
              <a:endParaRPr lang="en-US" sz="800"/>
            </a:p>
          </p:txBody>
        </p:sp>
        <p:sp>
          <p:nvSpPr>
            <p:cNvPr id="17" name="Text 15"/>
            <p:cNvSpPr/>
            <p:nvPr/>
          </p:nvSpPr>
          <p:spPr>
            <a:xfrm>
              <a:off x="521208" y="2562796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Embeds each fragrance scent profile</a:t>
              </a:r>
              <a:endParaRPr lang="en-US" sz="800"/>
            </a:p>
          </p:txBody>
        </p:sp>
        <p:sp>
          <p:nvSpPr>
            <p:cNvPr id="18" name="Text 16"/>
            <p:cNvSpPr/>
            <p:nvPr/>
          </p:nvSpPr>
          <p:spPr>
            <a:xfrm>
              <a:off x="521208" y="2910268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Same model as inference pipeline</a:t>
              </a:r>
              <a:endParaRPr lang="en-US" sz="800"/>
            </a:p>
          </p:txBody>
        </p:sp>
        <p:sp>
          <p:nvSpPr>
            <p:cNvPr id="19" name="Shape 17"/>
            <p:cNvSpPr/>
            <p:nvPr/>
          </p:nvSpPr>
          <p:spPr>
            <a:xfrm>
              <a:off x="576072" y="3547872"/>
              <a:ext cx="1682496" cy="530352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576072" y="3566160"/>
              <a:ext cx="168249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>
                  <a:solidFill>
                    <a:srgbClr val="C9A9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384-d</a:t>
              </a:r>
              <a:endParaRPr lang="en-US" sz="2000"/>
            </a:p>
          </p:txBody>
        </p:sp>
        <p:sp>
          <p:nvSpPr>
            <p:cNvPr id="21" name="Text 19"/>
            <p:cNvSpPr/>
            <p:nvPr/>
          </p:nvSpPr>
          <p:spPr>
            <a:xfrm>
              <a:off x="576072" y="3895344"/>
              <a:ext cx="168249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kern="0" spc="150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EMBEDDING DIM</a:t>
              </a:r>
              <a:endParaRPr lang="en-US" sz="65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4E5C11C-8375-99AF-BC8C-01B19A779506}"/>
              </a:ext>
            </a:extLst>
          </p:cNvPr>
          <p:cNvGrpSpPr/>
          <p:nvPr/>
        </p:nvGrpSpPr>
        <p:grpSpPr>
          <a:xfrm>
            <a:off x="4636008" y="1175207"/>
            <a:ext cx="2011680" cy="3044951"/>
            <a:chOff x="2523744" y="1051560"/>
            <a:chExt cx="2011680" cy="3154680"/>
          </a:xfrm>
        </p:grpSpPr>
        <p:sp>
          <p:nvSpPr>
            <p:cNvPr id="23" name="Shape 21"/>
            <p:cNvSpPr/>
            <p:nvPr/>
          </p:nvSpPr>
          <p:spPr>
            <a:xfrm>
              <a:off x="2523744" y="1051560"/>
              <a:ext cx="2011680" cy="3154680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2523744" y="1143000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000"/>
            </a:p>
          </p:txBody>
        </p:sp>
        <p:sp>
          <p:nvSpPr>
            <p:cNvPr id="25" name="Text 23"/>
            <p:cNvSpPr/>
            <p:nvPr/>
          </p:nvSpPr>
          <p:spPr>
            <a:xfrm>
              <a:off x="2523744" y="1389888"/>
              <a:ext cx="20116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KMeans Cluster</a:t>
              </a:r>
              <a:endParaRPr lang="en-US" sz="1500"/>
            </a:p>
          </p:txBody>
        </p:sp>
        <p:sp>
          <p:nvSpPr>
            <p:cNvPr id="26" name="Text 24"/>
            <p:cNvSpPr/>
            <p:nvPr/>
          </p:nvSpPr>
          <p:spPr>
            <a:xfrm>
              <a:off x="2523744" y="172821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i="1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KMeans</a:t>
              </a:r>
              <a:endParaRPr lang="en-US" sz="750"/>
            </a:p>
          </p:txBody>
        </p:sp>
        <p:sp>
          <p:nvSpPr>
            <p:cNvPr id="27" name="Shape 25"/>
            <p:cNvSpPr/>
            <p:nvPr/>
          </p:nvSpPr>
          <p:spPr>
            <a:xfrm>
              <a:off x="2706624" y="1947672"/>
              <a:ext cx="1645920" cy="16459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2637685" y="2253081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Reduces 36,000 rows → 500 clusters</a:t>
              </a:r>
              <a:endParaRPr lang="en-US" sz="800"/>
            </a:p>
          </p:txBody>
        </p:sp>
        <p:sp>
          <p:nvSpPr>
            <p:cNvPr id="30" name="Text 28"/>
            <p:cNvSpPr/>
            <p:nvPr/>
          </p:nvSpPr>
          <p:spPr>
            <a:xfrm>
              <a:off x="2637685" y="2600554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</a:t>
              </a:r>
              <a:r>
                <a:rPr lang="en-US" sz="80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assigned to every fragrance</a:t>
              </a:r>
              <a:endParaRPr lang="en-US" sz="800"/>
            </a:p>
          </p:txBody>
        </p:sp>
        <p:sp>
          <p:nvSpPr>
            <p:cNvPr id="31" name="Text 29"/>
            <p:cNvSpPr/>
            <p:nvPr/>
          </p:nvSpPr>
          <p:spPr>
            <a:xfrm>
              <a:off x="2637685" y="2948026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Centroid is the most representative</a:t>
              </a:r>
              <a:endParaRPr lang="en-US" sz="800"/>
            </a:p>
          </p:txBody>
        </p:sp>
        <p:sp>
          <p:nvSpPr>
            <p:cNvPr id="32" name="Shape 30"/>
            <p:cNvSpPr/>
            <p:nvPr/>
          </p:nvSpPr>
          <p:spPr>
            <a:xfrm>
              <a:off x="2688336" y="3547872"/>
              <a:ext cx="1682496" cy="530352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2688336" y="3566160"/>
              <a:ext cx="168249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>
                  <a:solidFill>
                    <a:srgbClr val="C9A9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500</a:t>
              </a:r>
              <a:endParaRPr lang="en-US" sz="2000"/>
            </a:p>
          </p:txBody>
        </p:sp>
        <p:sp>
          <p:nvSpPr>
            <p:cNvPr id="34" name="Text 32"/>
            <p:cNvSpPr/>
            <p:nvPr/>
          </p:nvSpPr>
          <p:spPr>
            <a:xfrm>
              <a:off x="2688336" y="3895344"/>
              <a:ext cx="168249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kern="0" spc="150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CLUSTERS</a:t>
              </a:r>
              <a:endParaRPr lang="en-US" sz="65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867E129-BDEE-1FF3-2AB9-963B0252F82B}"/>
              </a:ext>
            </a:extLst>
          </p:cNvPr>
          <p:cNvGrpSpPr/>
          <p:nvPr/>
        </p:nvGrpSpPr>
        <p:grpSpPr>
          <a:xfrm>
            <a:off x="6748272" y="1175206"/>
            <a:ext cx="2011680" cy="3044951"/>
            <a:chOff x="4636008" y="1051560"/>
            <a:chExt cx="2011680" cy="3154681"/>
          </a:xfrm>
        </p:grpSpPr>
        <p:sp>
          <p:nvSpPr>
            <p:cNvPr id="36" name="Shape 34"/>
            <p:cNvSpPr/>
            <p:nvPr/>
          </p:nvSpPr>
          <p:spPr>
            <a:xfrm>
              <a:off x="4636008" y="1051560"/>
              <a:ext cx="2011680" cy="3154681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4636008" y="1143000"/>
              <a:ext cx="20116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000"/>
            </a:p>
          </p:txBody>
        </p:sp>
        <p:sp>
          <p:nvSpPr>
            <p:cNvPr id="38" name="Text 36"/>
            <p:cNvSpPr/>
            <p:nvPr/>
          </p:nvSpPr>
          <p:spPr>
            <a:xfrm>
              <a:off x="4636008" y="1389888"/>
              <a:ext cx="201168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LLM Vibe Tag</a:t>
              </a:r>
              <a:endParaRPr lang="en-US" sz="1500"/>
            </a:p>
          </p:txBody>
        </p:sp>
        <p:sp>
          <p:nvSpPr>
            <p:cNvPr id="39" name="Text 37"/>
            <p:cNvSpPr/>
            <p:nvPr/>
          </p:nvSpPr>
          <p:spPr>
            <a:xfrm>
              <a:off x="4636008" y="172821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i="1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Groq  ·  llama-3.1-8b-instant</a:t>
              </a:r>
              <a:endParaRPr lang="en-US" sz="750"/>
            </a:p>
          </p:txBody>
        </p:sp>
        <p:sp>
          <p:nvSpPr>
            <p:cNvPr id="40" name="Shape 38"/>
            <p:cNvSpPr/>
            <p:nvPr/>
          </p:nvSpPr>
          <p:spPr>
            <a:xfrm>
              <a:off x="4818888" y="1947672"/>
              <a:ext cx="1645920" cy="16459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40"/>
            <p:cNvSpPr/>
            <p:nvPr/>
          </p:nvSpPr>
          <p:spPr>
            <a:xfrm>
              <a:off x="4745736" y="2215326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Vibe extracted from centroid</a:t>
              </a:r>
              <a:endParaRPr lang="en-US" sz="800"/>
            </a:p>
          </p:txBody>
        </p:sp>
        <p:sp>
          <p:nvSpPr>
            <p:cNvPr id="43" name="Text 41"/>
            <p:cNvSpPr/>
            <p:nvPr/>
          </p:nvSpPr>
          <p:spPr>
            <a:xfrm>
              <a:off x="4745736" y="2562798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Attach vibe to fragrances in cluster</a:t>
              </a:r>
              <a:endParaRPr lang="en-US" sz="800"/>
            </a:p>
          </p:txBody>
        </p:sp>
        <p:sp>
          <p:nvSpPr>
            <p:cNvPr id="44" name="Text 42"/>
            <p:cNvSpPr/>
            <p:nvPr/>
          </p:nvSpPr>
          <p:spPr>
            <a:xfrm>
              <a:off x="4745736" y="2910270"/>
              <a:ext cx="1792224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b="1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0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new vibe columns appended</a:t>
              </a:r>
              <a:endParaRPr lang="en-US" sz="800"/>
            </a:p>
          </p:txBody>
        </p:sp>
        <p:sp>
          <p:nvSpPr>
            <p:cNvPr id="45" name="Shape 43"/>
            <p:cNvSpPr/>
            <p:nvPr/>
          </p:nvSpPr>
          <p:spPr>
            <a:xfrm>
              <a:off x="4800600" y="3547872"/>
              <a:ext cx="1682496" cy="530352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44"/>
            <p:cNvSpPr/>
            <p:nvPr/>
          </p:nvSpPr>
          <p:spPr>
            <a:xfrm>
              <a:off x="4800600" y="3566160"/>
              <a:ext cx="168249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>
                  <a:solidFill>
                    <a:srgbClr val="C9A9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36K</a:t>
              </a:r>
              <a:endParaRPr lang="en-US" sz="2000"/>
            </a:p>
          </p:txBody>
        </p:sp>
        <p:sp>
          <p:nvSpPr>
            <p:cNvPr id="47" name="Text 45"/>
            <p:cNvSpPr/>
            <p:nvPr/>
          </p:nvSpPr>
          <p:spPr>
            <a:xfrm>
              <a:off x="4800600" y="3895344"/>
              <a:ext cx="168249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 kern="0" spc="150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ROWS LABELLED</a:t>
              </a:r>
              <a:endParaRPr lang="en-US" sz="65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EF4F3D9C-52D5-39C4-BDE0-53C553EF9F14}"/>
              </a:ext>
            </a:extLst>
          </p:cNvPr>
          <p:cNvGrpSpPr/>
          <p:nvPr/>
        </p:nvGrpSpPr>
        <p:grpSpPr>
          <a:xfrm>
            <a:off x="411480" y="4420445"/>
            <a:ext cx="8348472" cy="560091"/>
            <a:chOff x="411480" y="4334256"/>
            <a:chExt cx="8321040" cy="749808"/>
          </a:xfrm>
        </p:grpSpPr>
        <p:sp>
          <p:nvSpPr>
            <p:cNvPr id="61" name="Shape 59"/>
            <p:cNvSpPr/>
            <p:nvPr/>
          </p:nvSpPr>
          <p:spPr>
            <a:xfrm>
              <a:off x="411480" y="4334256"/>
              <a:ext cx="8321040" cy="749808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60"/>
            <p:cNvSpPr/>
            <p:nvPr/>
          </p:nvSpPr>
          <p:spPr>
            <a:xfrm>
              <a:off x="520847" y="4404878"/>
              <a:ext cx="3657600" cy="1828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20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 SCHEMA  —  vibescent_enriched.csv</a:t>
              </a:r>
              <a:endParaRPr lang="en-US" sz="700"/>
            </a:p>
          </p:txBody>
        </p:sp>
        <p:sp>
          <p:nvSpPr>
            <p:cNvPr id="63" name="Text 61"/>
            <p:cNvSpPr/>
            <p:nvPr/>
          </p:nvSpPr>
          <p:spPr>
            <a:xfrm>
              <a:off x="521208" y="4626864"/>
              <a:ext cx="1499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Formality</a:t>
              </a:r>
              <a:endParaRPr lang="en-US" sz="950"/>
            </a:p>
          </p:txBody>
        </p:sp>
        <p:sp>
          <p:nvSpPr>
            <p:cNvPr id="64" name="Text 62"/>
            <p:cNvSpPr/>
            <p:nvPr/>
          </p:nvSpPr>
          <p:spPr>
            <a:xfrm>
              <a:off x="521208" y="4837176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 · 0.5 · 0.8</a:t>
              </a:r>
              <a:endParaRPr lang="en-US" sz="700"/>
            </a:p>
          </p:txBody>
        </p:sp>
        <p:sp>
          <p:nvSpPr>
            <p:cNvPr id="65" name="Shape 63"/>
            <p:cNvSpPr/>
            <p:nvPr/>
          </p:nvSpPr>
          <p:spPr>
            <a:xfrm>
              <a:off x="2075688" y="4407408"/>
              <a:ext cx="0" cy="603504"/>
            </a:xfrm>
            <a:prstGeom prst="line">
              <a:avLst/>
            </a:prstGeom>
            <a:noFill/>
            <a:ln w="9525">
              <a:solidFill>
                <a:srgbClr val="4A45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 64"/>
            <p:cNvSpPr/>
            <p:nvPr/>
          </p:nvSpPr>
          <p:spPr>
            <a:xfrm>
              <a:off x="2185416" y="4626864"/>
              <a:ext cx="1499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Season</a:t>
              </a:r>
              <a:endParaRPr lang="en-US" sz="950"/>
            </a:p>
          </p:txBody>
        </p:sp>
        <p:sp>
          <p:nvSpPr>
            <p:cNvPr id="67" name="Text 65"/>
            <p:cNvSpPr/>
            <p:nvPr/>
          </p:nvSpPr>
          <p:spPr>
            <a:xfrm>
              <a:off x="2185416" y="4837176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Spring · Summer · Autumn · Winter</a:t>
              </a:r>
              <a:endParaRPr lang="en-US" sz="700"/>
            </a:p>
          </p:txBody>
        </p:sp>
        <p:sp>
          <p:nvSpPr>
            <p:cNvPr id="68" name="Shape 66"/>
            <p:cNvSpPr/>
            <p:nvPr/>
          </p:nvSpPr>
          <p:spPr>
            <a:xfrm>
              <a:off x="3739896" y="4407408"/>
              <a:ext cx="0" cy="603504"/>
            </a:xfrm>
            <a:prstGeom prst="line">
              <a:avLst/>
            </a:prstGeom>
            <a:noFill/>
            <a:ln w="9525">
              <a:solidFill>
                <a:srgbClr val="4A45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7"/>
            <p:cNvSpPr/>
            <p:nvPr/>
          </p:nvSpPr>
          <p:spPr>
            <a:xfrm>
              <a:off x="3849624" y="4626864"/>
              <a:ext cx="1499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Gender</a:t>
              </a:r>
              <a:endParaRPr lang="en-US" sz="950"/>
            </a:p>
          </p:txBody>
        </p:sp>
        <p:sp>
          <p:nvSpPr>
            <p:cNvPr id="70" name="Text 68"/>
            <p:cNvSpPr/>
            <p:nvPr/>
          </p:nvSpPr>
          <p:spPr>
            <a:xfrm>
              <a:off x="3849624" y="4837176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Male · Female · Unisex</a:t>
              </a:r>
              <a:endParaRPr lang="en-US" sz="700"/>
            </a:p>
          </p:txBody>
        </p:sp>
        <p:sp>
          <p:nvSpPr>
            <p:cNvPr id="71" name="Shape 69"/>
            <p:cNvSpPr/>
            <p:nvPr/>
          </p:nvSpPr>
          <p:spPr>
            <a:xfrm>
              <a:off x="5404104" y="4407408"/>
              <a:ext cx="0" cy="603504"/>
            </a:xfrm>
            <a:prstGeom prst="line">
              <a:avLst/>
            </a:prstGeom>
            <a:noFill/>
            <a:ln w="9525">
              <a:solidFill>
                <a:srgbClr val="4A45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 70"/>
            <p:cNvSpPr/>
            <p:nvPr/>
          </p:nvSpPr>
          <p:spPr>
            <a:xfrm>
              <a:off x="5513832" y="4626864"/>
              <a:ext cx="1499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Time_of_Day</a:t>
              </a:r>
              <a:endParaRPr lang="en-US" sz="950"/>
            </a:p>
          </p:txBody>
        </p:sp>
        <p:sp>
          <p:nvSpPr>
            <p:cNvPr id="73" name="Text 71"/>
            <p:cNvSpPr/>
            <p:nvPr/>
          </p:nvSpPr>
          <p:spPr>
            <a:xfrm>
              <a:off x="5513832" y="4837176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Day · Night</a:t>
              </a:r>
              <a:endParaRPr lang="en-US" sz="700"/>
            </a:p>
          </p:txBody>
        </p:sp>
        <p:sp>
          <p:nvSpPr>
            <p:cNvPr id="74" name="Shape 72"/>
            <p:cNvSpPr/>
            <p:nvPr/>
          </p:nvSpPr>
          <p:spPr>
            <a:xfrm>
              <a:off x="7068312" y="4407408"/>
              <a:ext cx="0" cy="603504"/>
            </a:xfrm>
            <a:prstGeom prst="line">
              <a:avLst/>
            </a:prstGeom>
            <a:noFill/>
            <a:ln w="9525">
              <a:solidFill>
                <a:srgbClr val="4A454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 73"/>
            <p:cNvSpPr/>
            <p:nvPr/>
          </p:nvSpPr>
          <p:spPr>
            <a:xfrm>
              <a:off x="7178040" y="4626864"/>
              <a:ext cx="14996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Frequency</a:t>
              </a:r>
              <a:endParaRPr lang="en-US" sz="950"/>
            </a:p>
          </p:txBody>
        </p:sp>
        <p:sp>
          <p:nvSpPr>
            <p:cNvPr id="76" name="Text 74"/>
            <p:cNvSpPr/>
            <p:nvPr/>
          </p:nvSpPr>
          <p:spPr>
            <a:xfrm>
              <a:off x="7178040" y="4837176"/>
              <a:ext cx="149961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Often · Occasionally · Rarely</a:t>
              </a:r>
              <a:endParaRPr lang="en-US" sz="700"/>
            </a:p>
          </p:txBody>
        </p:sp>
      </p:grpSp>
      <p:sp>
        <p:nvSpPr>
          <p:cNvPr id="84" name="Shape 2">
            <a:extLst>
              <a:ext uri="{FF2B5EF4-FFF2-40B4-BE49-F238E27FC236}">
                <a16:creationId xmlns:a16="http://schemas.microsoft.com/office/drawing/2014/main" id="{4D06F53F-48C3-DD52-446F-C9632D0A1762}"/>
              </a:ext>
            </a:extLst>
          </p:cNvPr>
          <p:cNvSpPr/>
          <p:nvPr/>
        </p:nvSpPr>
        <p:spPr>
          <a:xfrm>
            <a:off x="457200" y="804672"/>
            <a:ext cx="1563624" cy="201168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/>
            <a:r>
              <a:rPr lang="en-US" sz="750" b="1" kern="0" spc="1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VIBE EXTRACTION</a:t>
            </a:r>
            <a:endParaRPr lang="en-US" sz="750"/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EBE76DB7-9994-8C75-51C0-B89161E52090}"/>
              </a:ext>
            </a:extLst>
          </p:cNvPr>
          <p:cNvSpPr/>
          <p:nvPr/>
        </p:nvSpPr>
        <p:spPr>
          <a:xfrm>
            <a:off x="411480" y="1175207"/>
            <a:ext cx="1947672" cy="3044952"/>
          </a:xfrm>
          <a:prstGeom prst="rect">
            <a:avLst/>
          </a:prstGeom>
          <a:solidFill>
            <a:srgbClr val="1E1E1E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Text 7">
            <a:extLst>
              <a:ext uri="{FF2B5EF4-FFF2-40B4-BE49-F238E27FC236}">
                <a16:creationId xmlns:a16="http://schemas.microsoft.com/office/drawing/2014/main" id="{CB82071B-20F4-59C9-CFE0-6FAC46D0075F}"/>
              </a:ext>
            </a:extLst>
          </p:cNvPr>
          <p:cNvSpPr/>
          <p:nvPr/>
        </p:nvSpPr>
        <p:spPr>
          <a:xfrm>
            <a:off x="512146" y="1287983"/>
            <a:ext cx="1838252" cy="1654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3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</a:t>
            </a:r>
            <a:endParaRPr lang="en-US" sz="70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F2F3F74-8351-6DDB-E61A-D8CE6E864810}"/>
              </a:ext>
            </a:extLst>
          </p:cNvPr>
          <p:cNvGrpSpPr/>
          <p:nvPr/>
        </p:nvGrpSpPr>
        <p:grpSpPr>
          <a:xfrm>
            <a:off x="548640" y="1501768"/>
            <a:ext cx="1772202" cy="1932882"/>
            <a:chOff x="493776" y="1484476"/>
            <a:chExt cx="1772202" cy="2448929"/>
          </a:xfrm>
        </p:grpSpPr>
        <p:sp>
          <p:nvSpPr>
            <p:cNvPr id="98" name="Text 9">
              <a:extLst>
                <a:ext uri="{FF2B5EF4-FFF2-40B4-BE49-F238E27FC236}">
                  <a16:creationId xmlns:a16="http://schemas.microsoft.com/office/drawing/2014/main" id="{E888D0B8-D8DF-0457-0633-070DCF81CC3F}"/>
                </a:ext>
              </a:extLst>
            </p:cNvPr>
            <p:cNvSpPr/>
            <p:nvPr/>
          </p:nvSpPr>
          <p:spPr>
            <a:xfrm>
              <a:off x="642443" y="1524813"/>
              <a:ext cx="1488109" cy="1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Calibri" panose="020F0502020204030204" pitchFamily="34" charset="0"/>
                </a:rPr>
                <a:t>Parfumo</a:t>
              </a:r>
              <a:endParaRPr lang="en-US" sz="1000"/>
            </a:p>
          </p:txBody>
        </p:sp>
        <p:sp>
          <p:nvSpPr>
            <p:cNvPr id="99" name="Text 10">
              <a:extLst>
                <a:ext uri="{FF2B5EF4-FFF2-40B4-BE49-F238E27FC236}">
                  <a16:creationId xmlns:a16="http://schemas.microsoft.com/office/drawing/2014/main" id="{316CEADE-E925-7BAF-8E96-409690DEC16A}"/>
                </a:ext>
              </a:extLst>
            </p:cNvPr>
            <p:cNvSpPr/>
            <p:nvPr/>
          </p:nvSpPr>
          <p:spPr>
            <a:xfrm>
              <a:off x="642443" y="1705255"/>
              <a:ext cx="612751" cy="142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TidyTuesday</a:t>
              </a:r>
              <a:endParaRPr lang="en-US" sz="750"/>
            </a:p>
          </p:txBody>
        </p:sp>
        <p:sp>
          <p:nvSpPr>
            <p:cNvPr id="101" name="Text 13">
              <a:extLst>
                <a:ext uri="{FF2B5EF4-FFF2-40B4-BE49-F238E27FC236}">
                  <a16:creationId xmlns:a16="http://schemas.microsoft.com/office/drawing/2014/main" id="{F836E746-7BD3-2326-8702-5DF0A485280C}"/>
                </a:ext>
              </a:extLst>
            </p:cNvPr>
            <p:cNvSpPr/>
            <p:nvPr/>
          </p:nvSpPr>
          <p:spPr>
            <a:xfrm>
              <a:off x="648135" y="2031972"/>
              <a:ext cx="1488109" cy="1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Calibri" panose="020F0502020204030204" pitchFamily="34" charset="0"/>
                </a:rPr>
                <a:t>Fragrantica Clean</a:t>
              </a:r>
              <a:endParaRPr lang="en-US" sz="1000"/>
            </a:p>
          </p:txBody>
        </p:sp>
        <p:sp>
          <p:nvSpPr>
            <p:cNvPr id="102" name="Text 14">
              <a:extLst>
                <a:ext uri="{FF2B5EF4-FFF2-40B4-BE49-F238E27FC236}">
                  <a16:creationId xmlns:a16="http://schemas.microsoft.com/office/drawing/2014/main" id="{46E42BAD-F484-DD4E-2075-9D21EBE8FEC3}"/>
                </a:ext>
              </a:extLst>
            </p:cNvPr>
            <p:cNvSpPr/>
            <p:nvPr/>
          </p:nvSpPr>
          <p:spPr>
            <a:xfrm>
              <a:off x="648135" y="2212412"/>
              <a:ext cx="1617843" cy="142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Kaggle / olgagmiufana1</a:t>
              </a:r>
              <a:endParaRPr lang="en-US" sz="750"/>
            </a:p>
          </p:txBody>
        </p:sp>
        <p:sp>
          <p:nvSpPr>
            <p:cNvPr id="105" name="Text 17">
              <a:extLst>
                <a:ext uri="{FF2B5EF4-FFF2-40B4-BE49-F238E27FC236}">
                  <a16:creationId xmlns:a16="http://schemas.microsoft.com/office/drawing/2014/main" id="{90B816A6-D0B2-68DB-3106-1869D041826E}"/>
                </a:ext>
              </a:extLst>
            </p:cNvPr>
            <p:cNvSpPr/>
            <p:nvPr/>
          </p:nvSpPr>
          <p:spPr>
            <a:xfrm>
              <a:off x="648135" y="2543223"/>
              <a:ext cx="1488109" cy="1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Calibri" panose="020F0502020204030204" pitchFamily="34" charset="0"/>
                </a:rPr>
                <a:t>Rawanalqarni</a:t>
              </a:r>
              <a:endParaRPr lang="en-US" sz="1000"/>
            </a:p>
          </p:txBody>
        </p:sp>
        <p:sp>
          <p:nvSpPr>
            <p:cNvPr id="106" name="Text 18">
              <a:extLst>
                <a:ext uri="{FF2B5EF4-FFF2-40B4-BE49-F238E27FC236}">
                  <a16:creationId xmlns:a16="http://schemas.microsoft.com/office/drawing/2014/main" id="{F8CA4588-EE1F-3099-CE2A-8C2C12EC880E}"/>
                </a:ext>
              </a:extLst>
            </p:cNvPr>
            <p:cNvSpPr/>
            <p:nvPr/>
          </p:nvSpPr>
          <p:spPr>
            <a:xfrm>
              <a:off x="648135" y="2723664"/>
              <a:ext cx="612751" cy="142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Kaggle</a:t>
              </a:r>
              <a:endParaRPr lang="en-US" sz="750"/>
            </a:p>
          </p:txBody>
        </p:sp>
        <p:sp>
          <p:nvSpPr>
            <p:cNvPr id="109" name="Text 21">
              <a:extLst>
                <a:ext uri="{FF2B5EF4-FFF2-40B4-BE49-F238E27FC236}">
                  <a16:creationId xmlns:a16="http://schemas.microsoft.com/office/drawing/2014/main" id="{5626A384-9547-C799-1F73-C15D5D4DDE69}"/>
                </a:ext>
              </a:extLst>
            </p:cNvPr>
            <p:cNvSpPr/>
            <p:nvPr/>
          </p:nvSpPr>
          <p:spPr>
            <a:xfrm>
              <a:off x="648135" y="3054474"/>
              <a:ext cx="1488109" cy="1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Calibri" panose="020F0502020204030204" pitchFamily="34" charset="0"/>
                </a:rPr>
                <a:t>rdemarqui</a:t>
              </a:r>
              <a:endParaRPr lang="en-US" sz="1000"/>
            </a:p>
          </p:txBody>
        </p:sp>
        <p:sp>
          <p:nvSpPr>
            <p:cNvPr id="110" name="Text 22">
              <a:extLst>
                <a:ext uri="{FF2B5EF4-FFF2-40B4-BE49-F238E27FC236}">
                  <a16:creationId xmlns:a16="http://schemas.microsoft.com/office/drawing/2014/main" id="{6CD84098-32F6-86D2-EDCC-430030D92D8A}"/>
                </a:ext>
              </a:extLst>
            </p:cNvPr>
            <p:cNvSpPr/>
            <p:nvPr/>
          </p:nvSpPr>
          <p:spPr>
            <a:xfrm>
              <a:off x="648135" y="3234916"/>
              <a:ext cx="612751" cy="142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Kaggle</a:t>
              </a:r>
              <a:endParaRPr lang="en-US" sz="750"/>
            </a:p>
          </p:txBody>
        </p:sp>
        <p:sp>
          <p:nvSpPr>
            <p:cNvPr id="113" name="Text 25">
              <a:extLst>
                <a:ext uri="{FF2B5EF4-FFF2-40B4-BE49-F238E27FC236}">
                  <a16:creationId xmlns:a16="http://schemas.microsoft.com/office/drawing/2014/main" id="{7C91813D-E532-A895-017B-957E9A2E887E}"/>
                </a:ext>
              </a:extLst>
            </p:cNvPr>
            <p:cNvSpPr/>
            <p:nvPr/>
          </p:nvSpPr>
          <p:spPr>
            <a:xfrm>
              <a:off x="648135" y="3565725"/>
              <a:ext cx="1488109" cy="1804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Calibri" panose="020F0502020204030204" pitchFamily="34" charset="0"/>
                </a:rPr>
                <a:t>Ayush</a:t>
              </a:r>
              <a:endParaRPr lang="en-US" sz="1000"/>
            </a:p>
          </p:txBody>
        </p:sp>
        <p:sp>
          <p:nvSpPr>
            <p:cNvPr id="114" name="Text 26">
              <a:extLst>
                <a:ext uri="{FF2B5EF4-FFF2-40B4-BE49-F238E27FC236}">
                  <a16:creationId xmlns:a16="http://schemas.microsoft.com/office/drawing/2014/main" id="{F5B03084-F6B4-B9EF-C1F4-1AAA974D01BA}"/>
                </a:ext>
              </a:extLst>
            </p:cNvPr>
            <p:cNvSpPr/>
            <p:nvPr/>
          </p:nvSpPr>
          <p:spPr>
            <a:xfrm>
              <a:off x="648135" y="3746167"/>
              <a:ext cx="612751" cy="1428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Kaggle</a:t>
              </a:r>
              <a:endParaRPr lang="en-US" sz="750"/>
            </a:p>
          </p:txBody>
        </p:sp>
        <p:sp>
          <p:nvSpPr>
            <p:cNvPr id="117" name="Shape 8">
              <a:extLst>
                <a:ext uri="{FF2B5EF4-FFF2-40B4-BE49-F238E27FC236}">
                  <a16:creationId xmlns:a16="http://schemas.microsoft.com/office/drawing/2014/main" id="{10C672E2-D26C-48C2-8939-21F0C58F55F9}"/>
                </a:ext>
              </a:extLst>
            </p:cNvPr>
            <p:cNvSpPr/>
            <p:nvPr/>
          </p:nvSpPr>
          <p:spPr>
            <a:xfrm>
              <a:off x="505288" y="1484476"/>
              <a:ext cx="54864" cy="404770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Shape 8">
              <a:extLst>
                <a:ext uri="{FF2B5EF4-FFF2-40B4-BE49-F238E27FC236}">
                  <a16:creationId xmlns:a16="http://schemas.microsoft.com/office/drawing/2014/main" id="{40CE62CB-22FA-A773-5D67-A78A8C144F72}"/>
                </a:ext>
              </a:extLst>
            </p:cNvPr>
            <p:cNvSpPr/>
            <p:nvPr/>
          </p:nvSpPr>
          <p:spPr>
            <a:xfrm>
              <a:off x="502376" y="2004846"/>
              <a:ext cx="54864" cy="404770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Shape 8">
              <a:extLst>
                <a:ext uri="{FF2B5EF4-FFF2-40B4-BE49-F238E27FC236}">
                  <a16:creationId xmlns:a16="http://schemas.microsoft.com/office/drawing/2014/main" id="{AD04CFF3-76C6-EAAA-FEB7-D099D647138C}"/>
                </a:ext>
              </a:extLst>
            </p:cNvPr>
            <p:cNvSpPr/>
            <p:nvPr/>
          </p:nvSpPr>
          <p:spPr>
            <a:xfrm>
              <a:off x="502376" y="2487895"/>
              <a:ext cx="54864" cy="404770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Shape 8">
              <a:extLst>
                <a:ext uri="{FF2B5EF4-FFF2-40B4-BE49-F238E27FC236}">
                  <a16:creationId xmlns:a16="http://schemas.microsoft.com/office/drawing/2014/main" id="{4AC699B0-623F-7F47-3CB4-4BEDE08BF24F}"/>
                </a:ext>
              </a:extLst>
            </p:cNvPr>
            <p:cNvSpPr/>
            <p:nvPr/>
          </p:nvSpPr>
          <p:spPr>
            <a:xfrm>
              <a:off x="499464" y="3008265"/>
              <a:ext cx="54864" cy="404770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Shape 8">
              <a:extLst>
                <a:ext uri="{FF2B5EF4-FFF2-40B4-BE49-F238E27FC236}">
                  <a16:creationId xmlns:a16="http://schemas.microsoft.com/office/drawing/2014/main" id="{8C63C43A-9CA8-2296-CFD9-562C287FA8A6}"/>
                </a:ext>
              </a:extLst>
            </p:cNvPr>
            <p:cNvSpPr/>
            <p:nvPr/>
          </p:nvSpPr>
          <p:spPr>
            <a:xfrm>
              <a:off x="493776" y="3528635"/>
              <a:ext cx="54864" cy="404770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3" name="Shape 17">
            <a:extLst>
              <a:ext uri="{FF2B5EF4-FFF2-40B4-BE49-F238E27FC236}">
                <a16:creationId xmlns:a16="http://schemas.microsoft.com/office/drawing/2014/main" id="{28143ACD-8C5C-A42D-889F-026A4D2D535F}"/>
              </a:ext>
            </a:extLst>
          </p:cNvPr>
          <p:cNvSpPr/>
          <p:nvPr/>
        </p:nvSpPr>
        <p:spPr>
          <a:xfrm>
            <a:off x="548640" y="3583158"/>
            <a:ext cx="1682496" cy="511905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8">
            <a:extLst>
              <a:ext uri="{FF2B5EF4-FFF2-40B4-BE49-F238E27FC236}">
                <a16:creationId xmlns:a16="http://schemas.microsoft.com/office/drawing/2014/main" id="{C9D3C72F-DF7B-5595-0AF9-2F45A2E3FA1F}"/>
              </a:ext>
            </a:extLst>
          </p:cNvPr>
          <p:cNvSpPr/>
          <p:nvPr/>
        </p:nvSpPr>
        <p:spPr>
          <a:xfrm>
            <a:off x="548640" y="3600810"/>
            <a:ext cx="1682496" cy="31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~36,000</a:t>
            </a:r>
            <a:endParaRPr lang="en-US" sz="2000"/>
          </a:p>
        </p:txBody>
      </p:sp>
      <p:sp>
        <p:nvSpPr>
          <p:cNvPr id="125" name="Text 19">
            <a:extLst>
              <a:ext uri="{FF2B5EF4-FFF2-40B4-BE49-F238E27FC236}">
                <a16:creationId xmlns:a16="http://schemas.microsoft.com/office/drawing/2014/main" id="{495361CE-A962-C378-3ACB-C494145F3CCA}"/>
              </a:ext>
            </a:extLst>
          </p:cNvPr>
          <p:cNvSpPr/>
          <p:nvPr/>
        </p:nvSpPr>
        <p:spPr>
          <a:xfrm>
            <a:off x="548640" y="3918544"/>
            <a:ext cx="1682496" cy="176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FRAGRANCES</a:t>
            </a:r>
            <a:endParaRPr lang="en-US" sz="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02 — Input Layer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960120" cy="201168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3776" y="81381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</a:t>
            </a:r>
            <a:endParaRPr lang="en-US" sz="75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9445620-8FB3-9D8B-1E81-56D73F854D77}"/>
              </a:ext>
            </a:extLst>
          </p:cNvPr>
          <p:cNvGrpSpPr/>
          <p:nvPr/>
        </p:nvGrpSpPr>
        <p:grpSpPr>
          <a:xfrm>
            <a:off x="411480" y="1115568"/>
            <a:ext cx="4613447" cy="1783080"/>
            <a:chOff x="411480" y="1115568"/>
            <a:chExt cx="3977640" cy="3474720"/>
          </a:xfrm>
        </p:grpSpPr>
        <p:sp>
          <p:nvSpPr>
            <p:cNvPr id="6" name="Shape 4"/>
            <p:cNvSpPr/>
            <p:nvPr/>
          </p:nvSpPr>
          <p:spPr>
            <a:xfrm>
              <a:off x="411480" y="1115568"/>
              <a:ext cx="3977640" cy="3474720"/>
            </a:xfrm>
            <a:prstGeom prst="rect">
              <a:avLst/>
            </a:prstGeom>
            <a:solidFill>
              <a:srgbClr val="161616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658368" y="1355995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700" b="1" kern="0" spc="30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MODALITY  01</a:t>
              </a:r>
              <a:endParaRPr lang="en-US" sz="700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1797590"/>
              <a:ext cx="3474720" cy="3657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Outfit Image</a:t>
              </a:r>
              <a:endParaRPr lang="en-US" sz="2000"/>
            </a:p>
          </p:txBody>
        </p:sp>
        <p:sp>
          <p:nvSpPr>
            <p:cNvPr id="9" name="Text 7"/>
            <p:cNvSpPr/>
            <p:nvPr/>
          </p:nvSpPr>
          <p:spPr>
            <a:xfrm>
              <a:off x="658368" y="2579464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95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Input: </a:t>
              </a:r>
              <a:r>
                <a:rPr lang="en-US" sz="9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user uploads an outfit they plan to wear</a:t>
              </a:r>
              <a:endParaRPr lang="en-US" sz="950"/>
            </a:p>
          </p:txBody>
        </p:sp>
        <p:sp>
          <p:nvSpPr>
            <p:cNvPr id="10" name="Text 8"/>
            <p:cNvSpPr/>
            <p:nvPr/>
          </p:nvSpPr>
          <p:spPr>
            <a:xfrm>
              <a:off x="658368" y="3207174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95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Goal: </a:t>
              </a:r>
              <a:r>
                <a:rPr lang="en-US" sz="9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Identify the outfit and fragrances that match</a:t>
              </a:r>
              <a:endParaRPr lang="en-US" sz="950"/>
            </a:p>
          </p:txBody>
        </p:sp>
        <p:sp>
          <p:nvSpPr>
            <p:cNvPr id="11" name="Text 9"/>
            <p:cNvSpPr/>
            <p:nvPr/>
          </p:nvSpPr>
          <p:spPr>
            <a:xfrm>
              <a:off x="658368" y="3906399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</a:t>
              </a:r>
              <a:r>
                <a:rPr lang="en-US" sz="95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Pipeline:</a:t>
              </a:r>
              <a:r>
                <a:rPr lang="en-US" sz="9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Feeds into a vision transformer as raw pixel tensor</a:t>
              </a:r>
              <a:endParaRPr lang="en-US" sz="950"/>
            </a:p>
          </p:txBody>
        </p:sp>
        <p:sp>
          <p:nvSpPr>
            <p:cNvPr id="13" name="Text 11"/>
            <p:cNvSpPr/>
            <p:nvPr/>
          </p:nvSpPr>
          <p:spPr>
            <a:xfrm>
              <a:off x="658368" y="3579878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950"/>
            </a:p>
          </p:txBody>
        </p:sp>
      </p:grpSp>
      <p:sp>
        <p:nvSpPr>
          <p:cNvPr id="43" name="Shape 4">
            <a:extLst>
              <a:ext uri="{FF2B5EF4-FFF2-40B4-BE49-F238E27FC236}">
                <a16:creationId xmlns:a16="http://schemas.microsoft.com/office/drawing/2014/main" id="{343FEA4B-50E0-6A9D-9A6F-EBC84AEC6A00}"/>
              </a:ext>
            </a:extLst>
          </p:cNvPr>
          <p:cNvSpPr/>
          <p:nvPr/>
        </p:nvSpPr>
        <p:spPr>
          <a:xfrm>
            <a:off x="5486400" y="1127539"/>
            <a:ext cx="3246120" cy="3668850"/>
          </a:xfrm>
          <a:prstGeom prst="rect">
            <a:avLst/>
          </a:prstGeom>
          <a:solidFill>
            <a:srgbClr val="161616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7FE654E-E70F-6945-F263-1D4B0516D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215" y="1341665"/>
            <a:ext cx="2244489" cy="3337202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463E6080-F0D2-A398-D61A-481D9B29864F}"/>
              </a:ext>
            </a:extLst>
          </p:cNvPr>
          <p:cNvGrpSpPr/>
          <p:nvPr/>
        </p:nvGrpSpPr>
        <p:grpSpPr>
          <a:xfrm>
            <a:off x="411479" y="3013015"/>
            <a:ext cx="4613447" cy="1783080"/>
            <a:chOff x="411480" y="1115568"/>
            <a:chExt cx="3977640" cy="3474720"/>
          </a:xfrm>
        </p:grpSpPr>
        <p:sp>
          <p:nvSpPr>
            <p:cNvPr id="53" name="Shape 4">
              <a:extLst>
                <a:ext uri="{FF2B5EF4-FFF2-40B4-BE49-F238E27FC236}">
                  <a16:creationId xmlns:a16="http://schemas.microsoft.com/office/drawing/2014/main" id="{453059BD-BC8C-FD86-6F88-3BBC8051CABB}"/>
                </a:ext>
              </a:extLst>
            </p:cNvPr>
            <p:cNvSpPr/>
            <p:nvPr/>
          </p:nvSpPr>
          <p:spPr>
            <a:xfrm>
              <a:off x="411480" y="1115568"/>
              <a:ext cx="3977640" cy="3474720"/>
            </a:xfrm>
            <a:prstGeom prst="rect">
              <a:avLst/>
            </a:prstGeom>
            <a:solidFill>
              <a:srgbClr val="161616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F633A176-C011-599A-BC65-57B4296F550D}"/>
                </a:ext>
              </a:extLst>
            </p:cNvPr>
            <p:cNvSpPr/>
            <p:nvPr/>
          </p:nvSpPr>
          <p:spPr>
            <a:xfrm>
              <a:off x="658368" y="1355995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700" b="1" kern="0" spc="30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MODALITY  02</a:t>
              </a:r>
              <a:endParaRPr lang="en-US" sz="700"/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2D10272F-CE51-71F5-0791-361B6341CAE5}"/>
                </a:ext>
              </a:extLst>
            </p:cNvPr>
            <p:cNvSpPr/>
            <p:nvPr/>
          </p:nvSpPr>
          <p:spPr>
            <a:xfrm>
              <a:off x="640080" y="1797590"/>
              <a:ext cx="3474720" cy="3657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Occasion Description</a:t>
              </a:r>
              <a:endParaRPr lang="en-US" sz="2000"/>
            </a:p>
          </p:txBody>
        </p:sp>
        <p:sp>
          <p:nvSpPr>
            <p:cNvPr id="56" name="Text 7">
              <a:extLst>
                <a:ext uri="{FF2B5EF4-FFF2-40B4-BE49-F238E27FC236}">
                  <a16:creationId xmlns:a16="http://schemas.microsoft.com/office/drawing/2014/main" id="{BA7EC301-2BE7-7633-E6BC-D659B649080B}"/>
                </a:ext>
              </a:extLst>
            </p:cNvPr>
            <p:cNvSpPr/>
            <p:nvPr/>
          </p:nvSpPr>
          <p:spPr>
            <a:xfrm>
              <a:off x="658368" y="2579464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95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Input: </a:t>
              </a:r>
              <a:r>
                <a:rPr lang="en-US" sz="9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user describes the occasion they are dressing for</a:t>
              </a:r>
              <a:endParaRPr lang="en-US" sz="950"/>
            </a:p>
          </p:txBody>
        </p:sp>
        <p:sp>
          <p:nvSpPr>
            <p:cNvPr id="57" name="Text 8">
              <a:extLst>
                <a:ext uri="{FF2B5EF4-FFF2-40B4-BE49-F238E27FC236}">
                  <a16:creationId xmlns:a16="http://schemas.microsoft.com/office/drawing/2014/main" id="{8E172223-57B2-8804-2CDD-7C4199EC163A}"/>
                </a:ext>
              </a:extLst>
            </p:cNvPr>
            <p:cNvSpPr/>
            <p:nvPr/>
          </p:nvSpPr>
          <p:spPr>
            <a:xfrm>
              <a:off x="658368" y="3207174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95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Goal: </a:t>
              </a:r>
              <a:r>
                <a:rPr lang="en-US" sz="9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Understand the occasion and choose fragrances that are appropriate</a:t>
              </a:r>
              <a:endParaRPr lang="en-US" sz="950"/>
            </a:p>
          </p:txBody>
        </p:sp>
        <p:sp>
          <p:nvSpPr>
            <p:cNvPr id="58" name="Text 9">
              <a:extLst>
                <a:ext uri="{FF2B5EF4-FFF2-40B4-BE49-F238E27FC236}">
                  <a16:creationId xmlns:a16="http://schemas.microsoft.com/office/drawing/2014/main" id="{741EEDA3-9A99-6251-5E9A-200DC00A7CE8}"/>
                </a:ext>
              </a:extLst>
            </p:cNvPr>
            <p:cNvSpPr/>
            <p:nvPr/>
          </p:nvSpPr>
          <p:spPr>
            <a:xfrm>
              <a:off x="658368" y="3906399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</a:t>
              </a:r>
              <a:r>
                <a:rPr lang="en-US" sz="95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Pipeline:</a:t>
              </a:r>
              <a:r>
                <a:rPr lang="en-US" sz="9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Feeds into a sentence transformer as a string</a:t>
              </a:r>
              <a:endParaRPr lang="en-US" sz="950"/>
            </a:p>
          </p:txBody>
        </p:sp>
        <p:sp>
          <p:nvSpPr>
            <p:cNvPr id="59" name="Text 11">
              <a:extLst>
                <a:ext uri="{FF2B5EF4-FFF2-40B4-BE49-F238E27FC236}">
                  <a16:creationId xmlns:a16="http://schemas.microsoft.com/office/drawing/2014/main" id="{00DF2EE1-6F1C-A060-8150-01E5387FD45B}"/>
                </a:ext>
              </a:extLst>
            </p:cNvPr>
            <p:cNvSpPr/>
            <p:nvPr/>
          </p:nvSpPr>
          <p:spPr>
            <a:xfrm>
              <a:off x="658368" y="3579878"/>
              <a:ext cx="3566160" cy="30175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95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03 — Image + Text Processing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960120" cy="201168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3776" y="813816"/>
            <a:ext cx="886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750"/>
          </a:p>
        </p:txBody>
      </p:sp>
      <p:sp>
        <p:nvSpPr>
          <p:cNvPr id="6" name="Shape 4"/>
          <p:cNvSpPr/>
          <p:nvPr/>
        </p:nvSpPr>
        <p:spPr>
          <a:xfrm>
            <a:off x="1481328" y="804672"/>
            <a:ext cx="2194560" cy="201168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17904" y="813816"/>
            <a:ext cx="212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err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en-US" sz="750" b="1" kern="0" spc="1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/clip-vit-large-patch14</a:t>
            </a:r>
            <a:endParaRPr lang="en-US" sz="75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E525F2D-BAAA-E729-8C67-42E335CF3C67}"/>
              </a:ext>
            </a:extLst>
          </p:cNvPr>
          <p:cNvGrpSpPr/>
          <p:nvPr/>
        </p:nvGrpSpPr>
        <p:grpSpPr>
          <a:xfrm>
            <a:off x="411480" y="1115567"/>
            <a:ext cx="3977640" cy="3387421"/>
            <a:chOff x="411480" y="1115567"/>
            <a:chExt cx="3977640" cy="3387421"/>
          </a:xfrm>
        </p:grpSpPr>
        <p:sp>
          <p:nvSpPr>
            <p:cNvPr id="8" name="Shape 6"/>
            <p:cNvSpPr/>
            <p:nvPr/>
          </p:nvSpPr>
          <p:spPr>
            <a:xfrm>
              <a:off x="411480" y="1115567"/>
              <a:ext cx="3977640" cy="3387421"/>
            </a:xfrm>
            <a:prstGeom prst="rect">
              <a:avLst/>
            </a:prstGeom>
            <a:solidFill>
              <a:srgbClr val="161616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640080" y="1261872"/>
              <a:ext cx="18288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700" b="1" kern="0" spc="30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 TRANSFORMER</a:t>
              </a:r>
              <a:endParaRPr lang="en-US" sz="700"/>
            </a:p>
          </p:txBody>
        </p:sp>
        <p:sp>
          <p:nvSpPr>
            <p:cNvPr id="10" name="Text 8"/>
            <p:cNvSpPr/>
            <p:nvPr/>
          </p:nvSpPr>
          <p:spPr>
            <a:xfrm>
              <a:off x="640080" y="1490472"/>
              <a:ext cx="34747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CLIP ViT-L / 14</a:t>
              </a:r>
              <a:endParaRPr lang="en-US" sz="2200"/>
            </a:p>
          </p:txBody>
        </p:sp>
        <p:sp>
          <p:nvSpPr>
            <p:cNvPr id="11" name="Text 9"/>
            <p:cNvSpPr/>
            <p:nvPr/>
          </p:nvSpPr>
          <p:spPr>
            <a:xfrm>
              <a:off x="658368" y="1956816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 Backbone:</a:t>
              </a:r>
              <a:endParaRPr lang="en-US" sz="850"/>
            </a:p>
          </p:txBody>
        </p:sp>
        <p:sp>
          <p:nvSpPr>
            <p:cNvPr id="12" name="Text 10"/>
            <p:cNvSpPr/>
            <p:nvPr/>
          </p:nvSpPr>
          <p:spPr>
            <a:xfrm>
              <a:off x="2029968" y="1956816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Vision Transformer (ViT-L/14)</a:t>
              </a:r>
              <a:endParaRPr lang="en-US" sz="850"/>
            </a:p>
          </p:txBody>
        </p:sp>
        <p:sp>
          <p:nvSpPr>
            <p:cNvPr id="13" name="Text 11"/>
            <p:cNvSpPr/>
            <p:nvPr/>
          </p:nvSpPr>
          <p:spPr>
            <a:xfrm>
              <a:off x="658368" y="2258568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Patch Size:</a:t>
              </a:r>
              <a:endParaRPr lang="en-US" sz="850"/>
            </a:p>
          </p:txBody>
        </p:sp>
        <p:sp>
          <p:nvSpPr>
            <p:cNvPr id="14" name="Text 12"/>
            <p:cNvSpPr/>
            <p:nvPr/>
          </p:nvSpPr>
          <p:spPr>
            <a:xfrm>
              <a:off x="2029968" y="2258568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14 × 14 pixels</a:t>
              </a:r>
              <a:endParaRPr lang="en-US" sz="850"/>
            </a:p>
          </p:txBody>
        </p:sp>
        <p:sp>
          <p:nvSpPr>
            <p:cNvPr id="15" name="Text 13"/>
            <p:cNvSpPr/>
            <p:nvPr/>
          </p:nvSpPr>
          <p:spPr>
            <a:xfrm>
              <a:off x="658368" y="256032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 Resolution:</a:t>
              </a:r>
              <a:endParaRPr lang="en-US" sz="850"/>
            </a:p>
          </p:txBody>
        </p:sp>
        <p:sp>
          <p:nvSpPr>
            <p:cNvPr id="16" name="Text 14"/>
            <p:cNvSpPr/>
            <p:nvPr/>
          </p:nvSpPr>
          <p:spPr>
            <a:xfrm>
              <a:off x="2029968" y="2560320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224 × 224 (CLIPProcessor)</a:t>
              </a:r>
              <a:endParaRPr lang="en-US" sz="850"/>
            </a:p>
          </p:txBody>
        </p:sp>
        <p:sp>
          <p:nvSpPr>
            <p:cNvPr id="17" name="Text 15"/>
            <p:cNvSpPr/>
            <p:nvPr/>
          </p:nvSpPr>
          <p:spPr>
            <a:xfrm>
              <a:off x="658368" y="286207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Embedding Dim:</a:t>
              </a:r>
              <a:endParaRPr lang="en-US" sz="850"/>
            </a:p>
          </p:txBody>
        </p:sp>
        <p:sp>
          <p:nvSpPr>
            <p:cNvPr id="18" name="Text 16"/>
            <p:cNvSpPr/>
            <p:nvPr/>
          </p:nvSpPr>
          <p:spPr>
            <a:xfrm>
              <a:off x="2029968" y="2862072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768-d L2-normalized vector</a:t>
              </a:r>
              <a:endParaRPr lang="en-US" sz="850"/>
            </a:p>
          </p:txBody>
        </p:sp>
        <p:sp>
          <p:nvSpPr>
            <p:cNvPr id="19" name="Text 17"/>
            <p:cNvSpPr/>
            <p:nvPr/>
          </p:nvSpPr>
          <p:spPr>
            <a:xfrm>
              <a:off x="658368" y="3163824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Encoder:</a:t>
              </a:r>
              <a:endParaRPr lang="en-US" sz="850"/>
            </a:p>
          </p:txBody>
        </p:sp>
        <p:sp>
          <p:nvSpPr>
            <p:cNvPr id="20" name="Text 18"/>
            <p:cNvSpPr/>
            <p:nvPr/>
          </p:nvSpPr>
          <p:spPr>
            <a:xfrm>
              <a:off x="2029968" y="3163824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Transformer (77 token context)</a:t>
              </a:r>
              <a:endParaRPr lang="en-US" sz="850"/>
            </a:p>
          </p:txBody>
        </p:sp>
        <p:sp>
          <p:nvSpPr>
            <p:cNvPr id="21" name="Text 19"/>
            <p:cNvSpPr/>
            <p:nvPr/>
          </p:nvSpPr>
          <p:spPr>
            <a:xfrm>
              <a:off x="658368" y="3465576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Contrastive Loss:</a:t>
              </a:r>
              <a:endParaRPr lang="en-US" sz="850"/>
            </a:p>
          </p:txBody>
        </p:sp>
        <p:sp>
          <p:nvSpPr>
            <p:cNvPr id="22" name="Text 20"/>
            <p:cNvSpPr/>
            <p:nvPr/>
          </p:nvSpPr>
          <p:spPr>
            <a:xfrm>
              <a:off x="2029968" y="3465576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Softmax cross-entropy (ITAL)</a:t>
              </a:r>
              <a:endParaRPr lang="en-US" sz="850"/>
            </a:p>
          </p:txBody>
        </p:sp>
        <p:sp>
          <p:nvSpPr>
            <p:cNvPr id="23" name="Text 21"/>
            <p:cNvSpPr/>
            <p:nvPr/>
          </p:nvSpPr>
          <p:spPr>
            <a:xfrm>
              <a:off x="658368" y="3767328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Inference Mode:</a:t>
              </a:r>
              <a:endParaRPr lang="en-US" sz="850"/>
            </a:p>
          </p:txBody>
        </p:sp>
        <p:sp>
          <p:nvSpPr>
            <p:cNvPr id="24" name="Text 22"/>
            <p:cNvSpPr/>
            <p:nvPr/>
          </p:nvSpPr>
          <p:spPr>
            <a:xfrm>
              <a:off x="2029968" y="3767328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@torch.no_grad()  ·  .eval()</a:t>
              </a:r>
              <a:endParaRPr lang="en-US" sz="850"/>
            </a:p>
          </p:txBody>
        </p:sp>
        <p:sp>
          <p:nvSpPr>
            <p:cNvPr id="25" name="Text 23"/>
            <p:cNvSpPr/>
            <p:nvPr/>
          </p:nvSpPr>
          <p:spPr>
            <a:xfrm>
              <a:off x="658368" y="406908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Device Target:</a:t>
              </a:r>
              <a:endParaRPr lang="en-US" sz="850"/>
            </a:p>
          </p:txBody>
        </p:sp>
        <p:sp>
          <p:nvSpPr>
            <p:cNvPr id="26" name="Text 24"/>
            <p:cNvSpPr/>
            <p:nvPr/>
          </p:nvSpPr>
          <p:spPr>
            <a:xfrm>
              <a:off x="2029968" y="4069080"/>
              <a:ext cx="214884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F5F0E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MPS → CUDA → CPU (auto)</a:t>
              </a:r>
              <a:endParaRPr lang="en-US" sz="85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0921F20-43FD-D459-646F-B85DFB410ECB}"/>
              </a:ext>
            </a:extLst>
          </p:cNvPr>
          <p:cNvGrpSpPr/>
          <p:nvPr/>
        </p:nvGrpSpPr>
        <p:grpSpPr>
          <a:xfrm>
            <a:off x="411480" y="4690872"/>
            <a:ext cx="8321040" cy="256032"/>
            <a:chOff x="411480" y="4690872"/>
            <a:chExt cx="8321040" cy="256032"/>
          </a:xfrm>
        </p:grpSpPr>
        <p:sp>
          <p:nvSpPr>
            <p:cNvPr id="43" name="Shape 43">
              <a:extLst>
                <a:ext uri="{FF2B5EF4-FFF2-40B4-BE49-F238E27FC236}">
                  <a16:creationId xmlns:a16="http://schemas.microsoft.com/office/drawing/2014/main" id="{F66269BA-8BD1-B89C-E581-22A5F9D0D2C7}"/>
                </a:ext>
              </a:extLst>
            </p:cNvPr>
            <p:cNvSpPr/>
            <p:nvPr/>
          </p:nvSpPr>
          <p:spPr>
            <a:xfrm>
              <a:off x="411480" y="4690872"/>
              <a:ext cx="8321040" cy="256032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44" name="Text 44">
              <a:extLst>
                <a:ext uri="{FF2B5EF4-FFF2-40B4-BE49-F238E27FC236}">
                  <a16:creationId xmlns:a16="http://schemas.microsoft.com/office/drawing/2014/main" id="{D7897BFB-5991-B51B-0C33-4E0723662CCF}"/>
                </a:ext>
              </a:extLst>
            </p:cNvPr>
            <p:cNvSpPr/>
            <p:nvPr/>
          </p:nvSpPr>
          <p:spPr>
            <a:xfrm>
              <a:off x="594360" y="4709160"/>
              <a:ext cx="80467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i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Models loaded once at FastAPI startup to eliminate cold-start latency on user query</a:t>
              </a:r>
              <a:endParaRPr lang="en-US" sz="850"/>
            </a:p>
          </p:txBody>
        </p:sp>
      </p:grpSp>
      <p:sp>
        <p:nvSpPr>
          <p:cNvPr id="46" name="Shape 6">
            <a:extLst>
              <a:ext uri="{FF2B5EF4-FFF2-40B4-BE49-F238E27FC236}">
                <a16:creationId xmlns:a16="http://schemas.microsoft.com/office/drawing/2014/main" id="{CEDEF851-C217-5C58-8450-A0A980480C80}"/>
              </a:ext>
            </a:extLst>
          </p:cNvPr>
          <p:cNvSpPr/>
          <p:nvPr/>
        </p:nvSpPr>
        <p:spPr>
          <a:xfrm>
            <a:off x="4754880" y="1115567"/>
            <a:ext cx="3977640" cy="3387421"/>
          </a:xfrm>
          <a:prstGeom prst="rect">
            <a:avLst/>
          </a:prstGeom>
          <a:solidFill>
            <a:srgbClr val="161616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CDFC47C5-3970-E695-FF47-853FE60D9549}"/>
              </a:ext>
            </a:extLst>
          </p:cNvPr>
          <p:cNvSpPr/>
          <p:nvPr/>
        </p:nvSpPr>
        <p:spPr>
          <a:xfrm>
            <a:off x="4983480" y="1261871"/>
            <a:ext cx="2300052" cy="196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kern="0" spc="3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</a:t>
            </a:r>
            <a:endParaRPr lang="en-US" sz="700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F73BB7F3-8A5C-D9E6-4757-532615B56218}"/>
              </a:ext>
            </a:extLst>
          </p:cNvPr>
          <p:cNvSpPr/>
          <p:nvPr/>
        </p:nvSpPr>
        <p:spPr>
          <a:xfrm>
            <a:off x="4983480" y="1490471"/>
            <a:ext cx="3474720" cy="3743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all-MiniLM-L6-v2</a:t>
            </a: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DFD69A3E-5C7A-5A85-1008-410956A5C703}"/>
              </a:ext>
            </a:extLst>
          </p:cNvPr>
          <p:cNvSpPr/>
          <p:nvPr/>
        </p:nvSpPr>
        <p:spPr>
          <a:xfrm>
            <a:off x="5001768" y="1951118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85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0EF68A06-3BD2-8C11-9D06-0BA33C228A42}"/>
              </a:ext>
            </a:extLst>
          </p:cNvPr>
          <p:cNvSpPr/>
          <p:nvPr/>
        </p:nvSpPr>
        <p:spPr>
          <a:xfrm>
            <a:off x="6419088" y="1951118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endParaRPr lang="en-US" sz="850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C3FD901B-9C74-8433-14E6-4523B2C1326E}"/>
              </a:ext>
            </a:extLst>
          </p:cNvPr>
          <p:cNvSpPr/>
          <p:nvPr/>
        </p:nvSpPr>
        <p:spPr>
          <a:xfrm>
            <a:off x="5001768" y="2252870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850"/>
          </a:p>
        </p:txBody>
      </p:sp>
      <p:sp>
        <p:nvSpPr>
          <p:cNvPr id="52" name="Text 12">
            <a:extLst>
              <a:ext uri="{FF2B5EF4-FFF2-40B4-BE49-F238E27FC236}">
                <a16:creationId xmlns:a16="http://schemas.microsoft.com/office/drawing/2014/main" id="{64886B2C-E788-AD94-4DF9-A7B3814470C2}"/>
              </a:ext>
            </a:extLst>
          </p:cNvPr>
          <p:cNvSpPr/>
          <p:nvPr/>
        </p:nvSpPr>
        <p:spPr>
          <a:xfrm>
            <a:off x="6419088" y="2252870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BERT-based (6-layer MiniLM)</a:t>
            </a:r>
            <a:endParaRPr lang="en-US" sz="85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5978B80D-7251-5158-F809-225FBB29BC94}"/>
              </a:ext>
            </a:extLst>
          </p:cNvPr>
          <p:cNvSpPr/>
          <p:nvPr/>
        </p:nvSpPr>
        <p:spPr>
          <a:xfrm>
            <a:off x="4983480" y="2548924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Dim:</a:t>
            </a:r>
            <a:endParaRPr lang="en-US" sz="85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FE654603-E6A9-6704-E896-EC2E1B115C0F}"/>
              </a:ext>
            </a:extLst>
          </p:cNvPr>
          <p:cNvSpPr/>
          <p:nvPr/>
        </p:nvSpPr>
        <p:spPr>
          <a:xfrm>
            <a:off x="6400800" y="2548924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384-d dense vector</a:t>
            </a:r>
            <a:endParaRPr lang="en-US" sz="850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91AB39EB-FDF1-1DB6-F330-EECDC8750F27}"/>
              </a:ext>
            </a:extLst>
          </p:cNvPr>
          <p:cNvSpPr/>
          <p:nvPr/>
        </p:nvSpPr>
        <p:spPr>
          <a:xfrm>
            <a:off x="5001768" y="2844978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Tokens:</a:t>
            </a:r>
            <a:endParaRPr lang="en-US" sz="850"/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A16FC625-7CD5-0DC1-6CFF-3B084F243614}"/>
              </a:ext>
            </a:extLst>
          </p:cNvPr>
          <p:cNvSpPr/>
          <p:nvPr/>
        </p:nvSpPr>
        <p:spPr>
          <a:xfrm>
            <a:off x="6419088" y="2844978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(WordPiece tokenizer)</a:t>
            </a:r>
            <a:endParaRPr lang="en-US" sz="85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401CBEA2-AA9B-47EC-0A0D-D5A9F35042E9}"/>
              </a:ext>
            </a:extLst>
          </p:cNvPr>
          <p:cNvSpPr/>
          <p:nvPr/>
        </p:nvSpPr>
        <p:spPr>
          <a:xfrm>
            <a:off x="5001768" y="3163824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Pooling:</a:t>
            </a:r>
            <a:endParaRPr lang="en-US" sz="85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96DAC745-CABF-AAB2-6CE7-208AB83C8745}"/>
              </a:ext>
            </a:extLst>
          </p:cNvPr>
          <p:cNvSpPr/>
          <p:nvPr/>
        </p:nvSpPr>
        <p:spPr>
          <a:xfrm>
            <a:off x="6419088" y="3163824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pooling over embeddings</a:t>
            </a:r>
            <a:endParaRPr lang="en-US" sz="850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385BC274-1E6F-4D84-FCFD-46FFF4C71D89}"/>
              </a:ext>
            </a:extLst>
          </p:cNvPr>
          <p:cNvSpPr/>
          <p:nvPr/>
        </p:nvSpPr>
        <p:spPr>
          <a:xfrm>
            <a:off x="5001768" y="3449607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Obj.:</a:t>
            </a:r>
            <a:endParaRPr lang="en-US" sz="85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CCE0A794-AEA0-5651-C20F-B024A6F23EF4}"/>
              </a:ext>
            </a:extLst>
          </p:cNvPr>
          <p:cNvSpPr/>
          <p:nvPr/>
        </p:nvSpPr>
        <p:spPr>
          <a:xfrm>
            <a:off x="6419088" y="3449607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Multiple Negatives Ranking Loss</a:t>
            </a:r>
            <a:endParaRPr lang="en-US" sz="850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4B73E34F-97BF-7BB8-D578-2CDD0F9D8758}"/>
              </a:ext>
            </a:extLst>
          </p:cNvPr>
          <p:cNvSpPr/>
          <p:nvPr/>
        </p:nvSpPr>
        <p:spPr>
          <a:xfrm>
            <a:off x="5001768" y="3755932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Boot:</a:t>
            </a:r>
            <a:endParaRPr lang="en-US" sz="850"/>
          </a:p>
        </p:txBody>
      </p:sp>
      <p:sp>
        <p:nvSpPr>
          <p:cNvPr id="62" name="Text 22">
            <a:extLst>
              <a:ext uri="{FF2B5EF4-FFF2-40B4-BE49-F238E27FC236}">
                <a16:creationId xmlns:a16="http://schemas.microsoft.com/office/drawing/2014/main" id="{93398B92-A317-325A-E3FA-757CB600C3BE}"/>
              </a:ext>
            </a:extLst>
          </p:cNvPr>
          <p:cNvSpPr/>
          <p:nvPr/>
        </p:nvSpPr>
        <p:spPr>
          <a:xfrm>
            <a:off x="6419088" y="3755932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Loaded once at server startup</a:t>
            </a:r>
            <a:endParaRPr lang="en-US" sz="850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D158B26A-4B88-0F8A-63DA-2D04535FE884}"/>
              </a:ext>
            </a:extLst>
          </p:cNvPr>
          <p:cNvSpPr/>
          <p:nvPr/>
        </p:nvSpPr>
        <p:spPr>
          <a:xfrm>
            <a:off x="5001768" y="4062257"/>
            <a:ext cx="14173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Scope:</a:t>
            </a:r>
            <a:endParaRPr lang="en-US" sz="850"/>
          </a:p>
        </p:txBody>
      </p:sp>
      <p:sp>
        <p:nvSpPr>
          <p:cNvPr id="64" name="Text 24">
            <a:extLst>
              <a:ext uri="{FF2B5EF4-FFF2-40B4-BE49-F238E27FC236}">
                <a16:creationId xmlns:a16="http://schemas.microsoft.com/office/drawing/2014/main" id="{5CE7C7E7-64CE-F703-A668-22849CB6FFC1}"/>
              </a:ext>
            </a:extLst>
          </p:cNvPr>
          <p:cNvSpPr/>
          <p:nvPr/>
        </p:nvSpPr>
        <p:spPr>
          <a:xfrm>
            <a:off x="6419088" y="4062257"/>
            <a:ext cx="2103120" cy="267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description</a:t>
            </a:r>
            <a:endParaRPr lang="en-US" sz="850"/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EE0719AC-BD70-93F6-717C-A87E4F6E2917}"/>
              </a:ext>
            </a:extLst>
          </p:cNvPr>
          <p:cNvSpPr/>
          <p:nvPr/>
        </p:nvSpPr>
        <p:spPr>
          <a:xfrm>
            <a:off x="3739896" y="807334"/>
            <a:ext cx="1554480" cy="201168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98F7322A-FD81-8FF5-FB66-66405AAA07AB}"/>
              </a:ext>
            </a:extLst>
          </p:cNvPr>
          <p:cNvSpPr/>
          <p:nvPr/>
        </p:nvSpPr>
        <p:spPr>
          <a:xfrm>
            <a:off x="3776472" y="81647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04 — Vibe Vector Extraction</a:t>
            </a:r>
            <a:endParaRPr lang="en-US" sz="2800"/>
          </a:p>
        </p:txBody>
      </p:sp>
      <p:sp>
        <p:nvSpPr>
          <p:cNvPr id="6" name="Shape 4"/>
          <p:cNvSpPr/>
          <p:nvPr/>
        </p:nvSpPr>
        <p:spPr>
          <a:xfrm>
            <a:off x="411480" y="1275588"/>
            <a:ext cx="2386584" cy="1440718"/>
          </a:xfrm>
          <a:prstGeom prst="rect">
            <a:avLst/>
          </a:prstGeom>
          <a:solidFill>
            <a:srgbClr val="1E1E1E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2328" y="1385182"/>
            <a:ext cx="2151838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FORMALITY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552328" y="1557402"/>
            <a:ext cx="2151838" cy="25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Formality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552328" y="1839215"/>
            <a:ext cx="547741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1076594" y="1839215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 ·  smart casual  ·  formal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552328" y="2058404"/>
            <a:ext cx="508616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1076594" y="2058404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 (float)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3355848" y="1275588"/>
            <a:ext cx="2386584" cy="1440718"/>
          </a:xfrm>
          <a:prstGeom prst="rect">
            <a:avLst/>
          </a:prstGeom>
          <a:solidFill>
            <a:srgbClr val="1E1E1E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96696" y="1385182"/>
            <a:ext cx="2151838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3496696" y="1557402"/>
            <a:ext cx="2151838" cy="25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Season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3496696" y="1839215"/>
            <a:ext cx="547741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800"/>
          </a:p>
        </p:txBody>
      </p:sp>
      <p:sp>
        <p:nvSpPr>
          <p:cNvPr id="18" name="Text 16"/>
          <p:cNvSpPr/>
          <p:nvPr/>
        </p:nvSpPr>
        <p:spPr>
          <a:xfrm>
            <a:off x="4020962" y="1839215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 ·  summer  ·  fall  ·  winter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>
          <a:xfrm>
            <a:off x="3496696" y="2058404"/>
            <a:ext cx="508616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4020962" y="2058404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"Winter"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6300216" y="1275588"/>
            <a:ext cx="2386584" cy="1440718"/>
          </a:xfrm>
          <a:prstGeom prst="rect">
            <a:avLst/>
          </a:prstGeom>
          <a:solidFill>
            <a:srgbClr val="1E1E1E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1064" y="1385182"/>
            <a:ext cx="2151838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6441064" y="1557402"/>
            <a:ext cx="2151838" cy="25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6441064" y="1839215"/>
            <a:ext cx="547741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6965330" y="1839215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 ·  female  ·  neutral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6441064" y="2058404"/>
            <a:ext cx="508616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6965330" y="2058404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"Male"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11480" y="3145078"/>
            <a:ext cx="2386584" cy="1440718"/>
          </a:xfrm>
          <a:prstGeom prst="rect">
            <a:avLst/>
          </a:prstGeom>
          <a:solidFill>
            <a:srgbClr val="1E1E1E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2328" y="3254672"/>
            <a:ext cx="2151838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552328" y="3426892"/>
            <a:ext cx="2151838" cy="25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of Day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552328" y="3708705"/>
            <a:ext cx="547741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1076594" y="3708705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 ·  night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552328" y="3927894"/>
            <a:ext cx="508616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1076594" y="3927894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"Day"</a:t>
            </a:r>
            <a:endParaRPr lang="en-US" sz="800"/>
          </a:p>
        </p:txBody>
      </p:sp>
      <p:sp>
        <p:nvSpPr>
          <p:cNvPr id="38" name="Shape 36"/>
          <p:cNvSpPr/>
          <p:nvPr/>
        </p:nvSpPr>
        <p:spPr>
          <a:xfrm>
            <a:off x="3355848" y="3145078"/>
            <a:ext cx="2386584" cy="1440718"/>
          </a:xfrm>
          <a:prstGeom prst="rect">
            <a:avLst/>
          </a:prstGeom>
          <a:solidFill>
            <a:srgbClr val="1E1E1E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496696" y="3254672"/>
            <a:ext cx="2151838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3496696" y="3426892"/>
            <a:ext cx="2151838" cy="250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</a:t>
            </a:r>
            <a:endParaRPr lang="en-US" sz="1500"/>
          </a:p>
        </p:txBody>
      </p:sp>
      <p:sp>
        <p:nvSpPr>
          <p:cNvPr id="41" name="Text 39"/>
          <p:cNvSpPr/>
          <p:nvPr/>
        </p:nvSpPr>
        <p:spPr>
          <a:xfrm>
            <a:off x="3496696" y="3708705"/>
            <a:ext cx="547741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020962" y="3708705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 ·  everyday</a:t>
            </a: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3496696" y="3927894"/>
            <a:ext cx="508616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4020962" y="3927894"/>
            <a:ext cx="1627572" cy="15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9A9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"Often"</a:t>
            </a:r>
            <a:endParaRPr lang="en-US" sz="80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BD8D9B2-5A4D-99D8-6B69-5CB9071BC783}"/>
              </a:ext>
            </a:extLst>
          </p:cNvPr>
          <p:cNvGrpSpPr/>
          <p:nvPr/>
        </p:nvGrpSpPr>
        <p:grpSpPr>
          <a:xfrm>
            <a:off x="6300216" y="3145078"/>
            <a:ext cx="2386584" cy="1440718"/>
            <a:chOff x="6099048" y="1005840"/>
            <a:chExt cx="2788920" cy="1874520"/>
          </a:xfrm>
        </p:grpSpPr>
        <p:sp>
          <p:nvSpPr>
            <p:cNvPr id="46" name="Shape 44"/>
            <p:cNvSpPr/>
            <p:nvPr/>
          </p:nvSpPr>
          <p:spPr>
            <a:xfrm>
              <a:off x="6099048" y="1005840"/>
              <a:ext cx="2788920" cy="1874520"/>
            </a:xfrm>
            <a:prstGeom prst="rect">
              <a:avLst/>
            </a:prstGeom>
            <a:solidFill>
              <a:srgbClr val="3A3530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263640" y="1133856"/>
              <a:ext cx="24688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kern="0" spc="20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 DICT</a:t>
              </a:r>
              <a:endParaRPr lang="en-US" sz="800"/>
            </a:p>
          </p:txBody>
        </p:sp>
        <p:sp>
          <p:nvSpPr>
            <p:cNvPr id="48" name="Text 46"/>
            <p:cNvSpPr/>
            <p:nvPr/>
          </p:nvSpPr>
          <p:spPr>
            <a:xfrm>
              <a:off x="6263640" y="1371600"/>
              <a:ext cx="2468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4EA8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'Formality': 0.8</a:t>
              </a:r>
              <a:endParaRPr lang="en-US" sz="800"/>
            </a:p>
          </p:txBody>
        </p:sp>
        <p:sp>
          <p:nvSpPr>
            <p:cNvPr id="49" name="Text 47"/>
            <p:cNvSpPr/>
            <p:nvPr/>
          </p:nvSpPr>
          <p:spPr>
            <a:xfrm>
              <a:off x="6263640" y="1600200"/>
              <a:ext cx="2468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4EA8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'Season':    'Winter'</a:t>
              </a:r>
              <a:endParaRPr lang="en-US" sz="800"/>
            </a:p>
          </p:txBody>
        </p:sp>
        <p:sp>
          <p:nvSpPr>
            <p:cNvPr id="50" name="Text 48"/>
            <p:cNvSpPr/>
            <p:nvPr/>
          </p:nvSpPr>
          <p:spPr>
            <a:xfrm>
              <a:off x="6263640" y="1828800"/>
              <a:ext cx="2468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4EA8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'Gender':    'Male'</a:t>
              </a:r>
              <a:endParaRPr lang="en-US" sz="800"/>
            </a:p>
          </p:txBody>
        </p:sp>
        <p:sp>
          <p:nvSpPr>
            <p:cNvPr id="51" name="Text 49"/>
            <p:cNvSpPr/>
            <p:nvPr/>
          </p:nvSpPr>
          <p:spPr>
            <a:xfrm>
              <a:off x="6263640" y="2057400"/>
              <a:ext cx="2468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4EA8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'Time_of_Day': 'Day'</a:t>
              </a:r>
              <a:endParaRPr lang="en-US" sz="800"/>
            </a:p>
          </p:txBody>
        </p:sp>
        <p:sp>
          <p:nvSpPr>
            <p:cNvPr id="52" name="Text 50"/>
            <p:cNvSpPr/>
            <p:nvPr/>
          </p:nvSpPr>
          <p:spPr>
            <a:xfrm>
              <a:off x="6263640" y="2286000"/>
              <a:ext cx="2468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4EA8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'Frequency':   'Often'</a:t>
              </a:r>
              <a:endParaRPr lang="en-US" sz="800"/>
            </a:p>
          </p:txBody>
        </p:sp>
        <p:sp>
          <p:nvSpPr>
            <p:cNvPr id="54" name="Text 52"/>
            <p:cNvSpPr/>
            <p:nvPr/>
          </p:nvSpPr>
          <p:spPr>
            <a:xfrm>
              <a:off x="6263640" y="2514600"/>
              <a:ext cx="246888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>
                  <a:solidFill>
                    <a:srgbClr val="4EA8A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'Description': &lt;user_text&gt;</a:t>
              </a:r>
              <a:endParaRPr lang="en-US" sz="80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368813C-8DE2-08D9-3958-A1857E2B5E16}"/>
              </a:ext>
            </a:extLst>
          </p:cNvPr>
          <p:cNvGrpSpPr/>
          <p:nvPr/>
        </p:nvGrpSpPr>
        <p:grpSpPr>
          <a:xfrm>
            <a:off x="457200" y="804672"/>
            <a:ext cx="1404972" cy="201168"/>
            <a:chOff x="457200" y="804672"/>
            <a:chExt cx="960120" cy="201168"/>
          </a:xfrm>
        </p:grpSpPr>
        <p:sp>
          <p:nvSpPr>
            <p:cNvPr id="64" name="Shape 2">
              <a:extLst>
                <a:ext uri="{FF2B5EF4-FFF2-40B4-BE49-F238E27FC236}">
                  <a16:creationId xmlns:a16="http://schemas.microsoft.com/office/drawing/2014/main" id="{DF80D278-E998-C224-BD73-EA2E13E9E2CF}"/>
                </a:ext>
              </a:extLst>
            </p:cNvPr>
            <p:cNvSpPr/>
            <p:nvPr/>
          </p:nvSpPr>
          <p:spPr>
            <a:xfrm>
              <a:off x="457200" y="804672"/>
              <a:ext cx="960120" cy="201168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3">
              <a:extLst>
                <a:ext uri="{FF2B5EF4-FFF2-40B4-BE49-F238E27FC236}">
                  <a16:creationId xmlns:a16="http://schemas.microsoft.com/office/drawing/2014/main" id="{DBB23897-4273-79BD-AA36-AF4737B33DDF}"/>
                </a:ext>
              </a:extLst>
            </p:cNvPr>
            <p:cNvSpPr/>
            <p:nvPr/>
          </p:nvSpPr>
          <p:spPr>
            <a:xfrm>
              <a:off x="493776" y="813816"/>
              <a:ext cx="886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kern="0" spc="1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5-DIM VIBE VECTOR</a:t>
              </a:r>
              <a:endParaRPr lang="en-US" sz="75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05 — Recommend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417320" cy="201168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3776" y="813816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75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3831336"/>
          </a:xfrm>
          <a:prstGeom prst="rect">
            <a:avLst/>
          </a:prstGeom>
          <a:solidFill>
            <a:srgbClr val="161616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79" y="1261872"/>
            <a:ext cx="356731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kern="0" spc="3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70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F5F0E8"/>
                </a:solidFill>
                <a:latin typeface="Georgia" pitchFamily="34" charset="0"/>
              </a:rPr>
              <a:t>Partitioning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658368" y="193852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Non-Description keys extracted from vibe dict as categorical filters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658368" y="232257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 compared with regex word-boundary pattern: \b{value}\b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658368" y="270662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Formality treated as float with ±0.15 tolerance window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658368" y="30906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boolean mask applied iteratively to reduce df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58368" y="34747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result-set triggers graceful 'No fragrances found' error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58368" y="38587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search space from O(N) to O(k) before expensive embedding</a:t>
            </a:r>
            <a:endParaRPr lang="en-US" sz="900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7915AC97-21F4-9B5F-3228-57F571F8EA7B}"/>
              </a:ext>
            </a:extLst>
          </p:cNvPr>
          <p:cNvSpPr/>
          <p:nvPr/>
        </p:nvSpPr>
        <p:spPr>
          <a:xfrm>
            <a:off x="4754880" y="1115568"/>
            <a:ext cx="3977640" cy="3831336"/>
          </a:xfrm>
          <a:prstGeom prst="rect">
            <a:avLst/>
          </a:prstGeom>
          <a:solidFill>
            <a:srgbClr val="161616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50D2A5A1-E1E5-094B-A40B-44947F396452}"/>
              </a:ext>
            </a:extLst>
          </p:cNvPr>
          <p:cNvSpPr/>
          <p:nvPr/>
        </p:nvSpPr>
        <p:spPr>
          <a:xfrm>
            <a:off x="4983480" y="1261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kern="0" spc="3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70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F4A4801E-3320-BF3D-3A8F-3850E0CC38E3}"/>
              </a:ext>
            </a:extLst>
          </p:cNvPr>
          <p:cNvSpPr/>
          <p:nvPr/>
        </p:nvSpPr>
        <p:spPr>
          <a:xfrm>
            <a:off x="4983480" y="14904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vs. Dataset</a:t>
            </a:r>
            <a:endParaRPr lang="en-US" sz="200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ECB2249C-7E06-9D5A-549D-63D3AA0EB245}"/>
              </a:ext>
            </a:extLst>
          </p:cNvPr>
          <p:cNvSpPr/>
          <p:nvPr/>
        </p:nvSpPr>
        <p:spPr>
          <a:xfrm>
            <a:off x="5001768" y="1956816"/>
            <a:ext cx="73152" cy="502920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EEDE1DFF-A2C5-0FAF-0F25-F390F1D50E42}"/>
              </a:ext>
            </a:extLst>
          </p:cNvPr>
          <p:cNvSpPr/>
          <p:nvPr/>
        </p:nvSpPr>
        <p:spPr>
          <a:xfrm>
            <a:off x="5148072" y="19568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950"/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5946CF94-3CFB-E3C3-A398-8F92A1ECB518}"/>
              </a:ext>
            </a:extLst>
          </p:cNvPr>
          <p:cNvSpPr/>
          <p:nvPr/>
        </p:nvSpPr>
        <p:spPr>
          <a:xfrm>
            <a:off x="5148072" y="21488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 the user’s context input →  shape (1, 384)</a:t>
            </a:r>
            <a:endParaRPr lang="en-US" sz="800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D7360EB9-81A2-22A9-62CA-AD53034ADF66}"/>
              </a:ext>
            </a:extLst>
          </p:cNvPr>
          <p:cNvSpPr/>
          <p:nvPr/>
        </p:nvSpPr>
        <p:spPr>
          <a:xfrm>
            <a:off x="5001768" y="2569464"/>
            <a:ext cx="73152" cy="502920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5E7FE587-A643-41C9-94C0-F0F2765D52EE}"/>
              </a:ext>
            </a:extLst>
          </p:cNvPr>
          <p:cNvSpPr/>
          <p:nvPr/>
        </p:nvSpPr>
        <p:spPr>
          <a:xfrm>
            <a:off x="5148072" y="25694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Embedding</a:t>
            </a:r>
            <a:endParaRPr lang="en-US" sz="950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7EDEBB50-8078-14C8-F0DA-060D9F6582D1}"/>
              </a:ext>
            </a:extLst>
          </p:cNvPr>
          <p:cNvSpPr/>
          <p:nvPr/>
        </p:nvSpPr>
        <p:spPr>
          <a:xfrm>
            <a:off x="5148072" y="27614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 the notes for each fragrance →  shape (N, 384)</a:t>
            </a:r>
            <a:endParaRPr lang="en-US" sz="800"/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96B4CEB0-5D82-C20A-5729-4383033C019B}"/>
              </a:ext>
            </a:extLst>
          </p:cNvPr>
          <p:cNvSpPr/>
          <p:nvPr/>
        </p:nvSpPr>
        <p:spPr>
          <a:xfrm>
            <a:off x="5001768" y="3182112"/>
            <a:ext cx="73152" cy="502920"/>
          </a:xfrm>
          <a:prstGeom prst="rect">
            <a:avLst/>
          </a:prstGeom>
          <a:solidFill>
            <a:srgbClr val="4EA8A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A9628E2-4784-BC30-CE14-3B0EC99FFDF2}"/>
              </a:ext>
            </a:extLst>
          </p:cNvPr>
          <p:cNvSpPr/>
          <p:nvPr/>
        </p:nvSpPr>
        <p:spPr>
          <a:xfrm>
            <a:off x="5148072" y="31821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Matrix</a:t>
            </a:r>
            <a:endParaRPr lang="en-US" sz="95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9146E89B-3AAD-3B1B-03F3-9C7277735DD2}"/>
              </a:ext>
            </a:extLst>
          </p:cNvPr>
          <p:cNvSpPr/>
          <p:nvPr/>
        </p:nvSpPr>
        <p:spPr>
          <a:xfrm>
            <a:off x="5148072" y="337413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err="1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cosine_similarity</a:t>
            </a:r>
            <a:r>
              <a:rPr lang="en-US" sz="800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800" err="1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user_emb</a:t>
            </a:r>
            <a:r>
              <a:rPr lang="en-US" sz="800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00" err="1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db_embs</a:t>
            </a:r>
            <a:r>
              <a:rPr lang="en-US" sz="800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→  shape (1, N)</a:t>
            </a:r>
            <a:endParaRPr lang="en-US" sz="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F906E3A4-6CCB-4D90-520B-1530DB75AF85}"/>
              </a:ext>
            </a:extLst>
          </p:cNvPr>
          <p:cNvSpPr/>
          <p:nvPr/>
        </p:nvSpPr>
        <p:spPr>
          <a:xfrm>
            <a:off x="5001768" y="3794760"/>
            <a:ext cx="73152" cy="502920"/>
          </a:xfrm>
          <a:prstGeom prst="rect">
            <a:avLst/>
          </a:prstGeom>
          <a:solidFill>
            <a:srgbClr val="4EA8A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3D754B5E-445A-EA05-A0F8-0861CA36FAEA}"/>
              </a:ext>
            </a:extLst>
          </p:cNvPr>
          <p:cNvSpPr/>
          <p:nvPr/>
        </p:nvSpPr>
        <p:spPr>
          <a:xfrm>
            <a:off x="5148072" y="379476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Rank</a:t>
            </a:r>
            <a:endParaRPr lang="en-US" sz="95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E1B6FCC2-61FE-930E-891A-4E94712A8E26}"/>
              </a:ext>
            </a:extLst>
          </p:cNvPr>
          <p:cNvSpPr/>
          <p:nvPr/>
        </p:nvSpPr>
        <p:spPr>
          <a:xfrm>
            <a:off x="5148072" y="398678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.flatten()  →  argsort desc  →  head(3)</a:t>
            </a:r>
            <a:endParaRPr lang="en-US" sz="800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F8DD5A57-9739-16D4-3B96-6264E850413A}"/>
              </a:ext>
            </a:extLst>
          </p:cNvPr>
          <p:cNvSpPr/>
          <p:nvPr/>
        </p:nvSpPr>
        <p:spPr>
          <a:xfrm>
            <a:off x="5148072" y="44074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Assignment</a:t>
            </a:r>
            <a:endParaRPr lang="en-US" sz="95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0EB1611-1C95-D47A-5A3C-929401BF1BA5}"/>
              </a:ext>
            </a:extLst>
          </p:cNvPr>
          <p:cNvSpPr/>
          <p:nvPr/>
        </p:nvSpPr>
        <p:spPr>
          <a:xfrm>
            <a:off x="5148072" y="45994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E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the top three fragrances and their similarity scores</a:t>
            </a:r>
            <a:endParaRPr lang="en-US" sz="800"/>
          </a:p>
        </p:txBody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E61D06B3-7782-FD98-98CF-2C89D4EE24C4}"/>
              </a:ext>
            </a:extLst>
          </p:cNvPr>
          <p:cNvSpPr/>
          <p:nvPr/>
        </p:nvSpPr>
        <p:spPr>
          <a:xfrm>
            <a:off x="5001768" y="4407408"/>
            <a:ext cx="73152" cy="502920"/>
          </a:xfrm>
          <a:prstGeom prst="rect">
            <a:avLst/>
          </a:prstGeom>
          <a:solidFill>
            <a:srgbClr val="4EA8A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06 — Web Scrape</a:t>
            </a:r>
            <a:endParaRPr lang="en-US" sz="28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92AEDB-2E7E-C4BE-0F6D-FC72592DF7E8}"/>
              </a:ext>
            </a:extLst>
          </p:cNvPr>
          <p:cNvGrpSpPr/>
          <p:nvPr/>
        </p:nvGrpSpPr>
        <p:grpSpPr>
          <a:xfrm>
            <a:off x="457199" y="804672"/>
            <a:ext cx="1304693" cy="201168"/>
            <a:chOff x="457200" y="804672"/>
            <a:chExt cx="960120" cy="201168"/>
          </a:xfrm>
        </p:grpSpPr>
        <p:sp>
          <p:nvSpPr>
            <p:cNvPr id="4" name="Shape 2"/>
            <p:cNvSpPr/>
            <p:nvPr/>
          </p:nvSpPr>
          <p:spPr>
            <a:xfrm>
              <a:off x="457200" y="804672"/>
              <a:ext cx="960120" cy="201168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493776" y="813816"/>
              <a:ext cx="886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kern="0" spc="1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SERPAPI SCRAPER</a:t>
              </a:r>
              <a:endParaRPr lang="en-US" sz="75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361D01-75FA-C195-9889-1DA4E1BE68CE}"/>
              </a:ext>
            </a:extLst>
          </p:cNvPr>
          <p:cNvGrpSpPr/>
          <p:nvPr/>
        </p:nvGrpSpPr>
        <p:grpSpPr>
          <a:xfrm>
            <a:off x="411480" y="1115568"/>
            <a:ext cx="2468880" cy="3799332"/>
            <a:chOff x="411480" y="1115568"/>
            <a:chExt cx="2697480" cy="3200400"/>
          </a:xfrm>
        </p:grpSpPr>
        <p:sp>
          <p:nvSpPr>
            <p:cNvPr id="6" name="Shape 4"/>
            <p:cNvSpPr/>
            <p:nvPr/>
          </p:nvSpPr>
          <p:spPr>
            <a:xfrm>
              <a:off x="411480" y="1115568"/>
              <a:ext cx="2697480" cy="3200400"/>
            </a:xfrm>
            <a:prstGeom prst="rect">
              <a:avLst/>
            </a:prstGeom>
            <a:solidFill>
              <a:srgbClr val="161616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76072" y="12344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1100"/>
            </a:p>
          </p:txBody>
        </p:sp>
        <p:sp>
          <p:nvSpPr>
            <p:cNvPr id="8" name="Text 6"/>
            <p:cNvSpPr/>
            <p:nvPr/>
          </p:nvSpPr>
          <p:spPr>
            <a:xfrm>
              <a:off x="576072" y="1508760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Google Shopping Query</a:t>
              </a:r>
              <a:endParaRPr lang="en-US" sz="1300"/>
            </a:p>
          </p:txBody>
        </p:sp>
        <p:sp>
          <p:nvSpPr>
            <p:cNvPr id="9" name="Text 7"/>
            <p:cNvSpPr/>
            <p:nvPr/>
          </p:nvSpPr>
          <p:spPr>
            <a:xfrm>
              <a:off x="576072" y="1993392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Engine: google_shopping via SerpAPI</a:t>
              </a:r>
              <a:endParaRPr lang="en-US" sz="850"/>
            </a:p>
          </p:txBody>
        </p:sp>
        <p:sp>
          <p:nvSpPr>
            <p:cNvPr id="10" name="Text 8"/>
            <p:cNvSpPr/>
            <p:nvPr/>
          </p:nvSpPr>
          <p:spPr>
            <a:xfrm>
              <a:off x="576072" y="2331720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Query: '{name} perfume fragrance'</a:t>
              </a:r>
              <a:endParaRPr lang="en-US" sz="850"/>
            </a:p>
          </p:txBody>
        </p:sp>
        <p:sp>
          <p:nvSpPr>
            <p:cNvPr id="11" name="Text 9"/>
            <p:cNvSpPr/>
            <p:nvPr/>
          </p:nvSpPr>
          <p:spPr>
            <a:xfrm>
              <a:off x="576072" y="2670048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Num results: 20 per fragrance</a:t>
              </a:r>
              <a:endParaRPr lang="en-US" sz="850"/>
            </a:p>
          </p:txBody>
        </p:sp>
        <p:sp>
          <p:nvSpPr>
            <p:cNvPr id="12" name="Text 10"/>
            <p:cNvSpPr/>
            <p:nvPr/>
          </p:nvSpPr>
          <p:spPr>
            <a:xfrm>
              <a:off x="576072" y="3008376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Budget cap applied post-fetch</a:t>
              </a:r>
              <a:endParaRPr lang="en-US" sz="850"/>
            </a:p>
          </p:txBody>
        </p:sp>
        <p:sp>
          <p:nvSpPr>
            <p:cNvPr id="13" name="Text 11"/>
            <p:cNvSpPr/>
            <p:nvPr/>
          </p:nvSpPr>
          <p:spPr>
            <a:xfrm>
              <a:off x="576072" y="3346704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timeout=15s · raise_for_status()</a:t>
              </a:r>
              <a:endParaRPr lang="en-US" sz="85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EA497EB-F0A3-F095-07F5-466BC25BA8DA}"/>
              </a:ext>
            </a:extLst>
          </p:cNvPr>
          <p:cNvGrpSpPr/>
          <p:nvPr/>
        </p:nvGrpSpPr>
        <p:grpSpPr>
          <a:xfrm>
            <a:off x="3337560" y="1115568"/>
            <a:ext cx="2468880" cy="3799332"/>
            <a:chOff x="3337560" y="1115568"/>
            <a:chExt cx="2697480" cy="3200400"/>
          </a:xfrm>
        </p:grpSpPr>
        <p:sp>
          <p:nvSpPr>
            <p:cNvPr id="14" name="Shape 12"/>
            <p:cNvSpPr/>
            <p:nvPr/>
          </p:nvSpPr>
          <p:spPr>
            <a:xfrm>
              <a:off x="3337560" y="1115568"/>
              <a:ext cx="2697480" cy="3200400"/>
            </a:xfrm>
            <a:prstGeom prst="rect">
              <a:avLst/>
            </a:prstGeom>
            <a:solidFill>
              <a:srgbClr val="161616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3502152" y="12344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1100"/>
            </a:p>
          </p:txBody>
        </p:sp>
        <p:sp>
          <p:nvSpPr>
            <p:cNvPr id="16" name="Text 14"/>
            <p:cNvSpPr/>
            <p:nvPr/>
          </p:nvSpPr>
          <p:spPr>
            <a:xfrm>
              <a:off x="3502152" y="1508760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Priority Store Ranking</a:t>
              </a:r>
              <a:endParaRPr lang="en-US" sz="1300"/>
            </a:p>
          </p:txBody>
        </p:sp>
        <p:sp>
          <p:nvSpPr>
            <p:cNvPr id="17" name="Text 15"/>
            <p:cNvSpPr/>
            <p:nvPr/>
          </p:nvSpPr>
          <p:spPr>
            <a:xfrm>
              <a:off x="3502152" y="1993392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Sephora → Nordstrom → Macy's</a:t>
              </a:r>
              <a:endParaRPr lang="en-US" sz="850"/>
            </a:p>
          </p:txBody>
        </p:sp>
        <p:sp>
          <p:nvSpPr>
            <p:cNvPr id="18" name="Text 16"/>
            <p:cNvSpPr/>
            <p:nvPr/>
          </p:nvSpPr>
          <p:spPr>
            <a:xfrm>
              <a:off x="3502152" y="2331720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Bloomingdale's → Neiman Marcus</a:t>
              </a:r>
              <a:endParaRPr lang="en-US" sz="850"/>
            </a:p>
          </p:txBody>
        </p:sp>
        <p:sp>
          <p:nvSpPr>
            <p:cNvPr id="19" name="Text 17"/>
            <p:cNvSpPr/>
            <p:nvPr/>
          </p:nvSpPr>
          <p:spPr>
            <a:xfrm>
              <a:off x="3502152" y="2670048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Ulta → Generic stores (fallback)</a:t>
              </a:r>
              <a:endParaRPr lang="en-US" sz="850"/>
            </a:p>
          </p:txBody>
        </p:sp>
        <p:sp>
          <p:nvSpPr>
            <p:cNvPr id="20" name="Text 18"/>
            <p:cNvSpPr/>
            <p:nvPr/>
          </p:nvSpPr>
          <p:spPr>
            <a:xfrm>
              <a:off x="3502152" y="3008376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_store_priority() rank function</a:t>
              </a:r>
              <a:endParaRPr lang="en-US" sz="850"/>
            </a:p>
          </p:txBody>
        </p:sp>
        <p:sp>
          <p:nvSpPr>
            <p:cNvPr id="21" name="Text 19"/>
            <p:cNvSpPr/>
            <p:nvPr/>
          </p:nvSpPr>
          <p:spPr>
            <a:xfrm>
              <a:off x="3502152" y="3346704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sort() on (priority, price) tuple</a:t>
              </a:r>
              <a:endParaRPr lang="en-US" sz="85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7DF1122-10D3-8076-A730-200AF4D97D3E}"/>
              </a:ext>
            </a:extLst>
          </p:cNvPr>
          <p:cNvGrpSpPr/>
          <p:nvPr/>
        </p:nvGrpSpPr>
        <p:grpSpPr>
          <a:xfrm>
            <a:off x="6263640" y="1115568"/>
            <a:ext cx="2468880" cy="3799332"/>
            <a:chOff x="6263640" y="1115568"/>
            <a:chExt cx="2697480" cy="3200400"/>
          </a:xfrm>
        </p:grpSpPr>
        <p:sp>
          <p:nvSpPr>
            <p:cNvPr id="22" name="Shape 20"/>
            <p:cNvSpPr/>
            <p:nvPr/>
          </p:nvSpPr>
          <p:spPr>
            <a:xfrm>
              <a:off x="6263640" y="1115568"/>
              <a:ext cx="2697480" cy="3200400"/>
            </a:xfrm>
            <a:prstGeom prst="rect">
              <a:avLst/>
            </a:prstGeom>
            <a:solidFill>
              <a:srgbClr val="161616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6428232" y="1234440"/>
              <a:ext cx="457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1100"/>
            </a:p>
          </p:txBody>
        </p:sp>
        <p:sp>
          <p:nvSpPr>
            <p:cNvPr id="24" name="Text 22"/>
            <p:cNvSpPr/>
            <p:nvPr/>
          </p:nvSpPr>
          <p:spPr>
            <a:xfrm>
              <a:off x="6428232" y="1508760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Result Sanitization</a:t>
              </a:r>
              <a:endParaRPr lang="en-US" sz="1300"/>
            </a:p>
          </p:txBody>
        </p:sp>
        <p:sp>
          <p:nvSpPr>
            <p:cNvPr id="25" name="Text 23"/>
            <p:cNvSpPr/>
            <p:nvPr/>
          </p:nvSpPr>
          <p:spPr>
            <a:xfrm>
              <a:off x="6428232" y="1993392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None guard → fallback dict injected</a:t>
              </a:r>
              <a:endParaRPr lang="en-US" sz="850"/>
            </a:p>
          </p:txBody>
        </p:sp>
        <p:sp>
          <p:nvSpPr>
            <p:cNvPr id="26" name="Text 24"/>
            <p:cNvSpPr/>
            <p:nvPr/>
          </p:nvSpPr>
          <p:spPr>
            <a:xfrm>
              <a:off x="6428232" y="2331720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Price regex: r'[\d,]+\.?\d*'</a:t>
              </a:r>
              <a:endParaRPr lang="en-US" sz="850"/>
            </a:p>
          </p:txBody>
        </p:sp>
        <p:sp>
          <p:nvSpPr>
            <p:cNvPr id="27" name="Text 25"/>
            <p:cNvSpPr/>
            <p:nvPr/>
          </p:nvSpPr>
          <p:spPr>
            <a:xfrm>
              <a:off x="6428232" y="2670048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Float casting with ValueError guard</a:t>
              </a:r>
              <a:endParaRPr lang="en-US" sz="850"/>
            </a:p>
          </p:txBody>
        </p:sp>
        <p:sp>
          <p:nvSpPr>
            <p:cNvPr id="28" name="Text 26"/>
            <p:cNvSpPr/>
            <p:nvPr/>
          </p:nvSpPr>
          <p:spPr>
            <a:xfrm>
              <a:off x="6428232" y="3008376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Thumbnail URL passed to frontend</a:t>
              </a:r>
              <a:endParaRPr lang="en-US" sz="850"/>
            </a:p>
          </p:txBody>
        </p:sp>
        <p:sp>
          <p:nvSpPr>
            <p:cNvPr id="29" name="Text 27"/>
            <p:cNvSpPr/>
            <p:nvPr/>
          </p:nvSpPr>
          <p:spPr>
            <a:xfrm>
              <a:off x="6428232" y="3346704"/>
              <a:ext cx="2377440" cy="3017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>
                  <a:solidFill>
                    <a:srgbClr val="8A6E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›  </a:t>
              </a:r>
              <a:r>
                <a:rPr lang="en-US" sz="8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purchaseUrl field for deep-link CTA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— Descriptive Recommendations</a:t>
            </a:r>
            <a:endParaRPr lang="en-US" sz="280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55D505B-CD00-8525-472A-DD96E448FEFB}"/>
              </a:ext>
            </a:extLst>
          </p:cNvPr>
          <p:cNvGrpSpPr/>
          <p:nvPr/>
        </p:nvGrpSpPr>
        <p:grpSpPr>
          <a:xfrm>
            <a:off x="457199" y="804672"/>
            <a:ext cx="1286821" cy="201168"/>
            <a:chOff x="457200" y="804672"/>
            <a:chExt cx="960120" cy="201168"/>
          </a:xfrm>
        </p:grpSpPr>
        <p:sp>
          <p:nvSpPr>
            <p:cNvPr id="4" name="Shape 2"/>
            <p:cNvSpPr/>
            <p:nvPr/>
          </p:nvSpPr>
          <p:spPr>
            <a:xfrm>
              <a:off x="457200" y="804672"/>
              <a:ext cx="960120" cy="201168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493776" y="813816"/>
              <a:ext cx="8869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 kern="0" spc="1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TOP-3 RESULTS</a:t>
              </a:r>
              <a:endParaRPr lang="en-US" sz="75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EAE4A1A-446C-B97F-A36C-CBB99D52A53A}"/>
              </a:ext>
            </a:extLst>
          </p:cNvPr>
          <p:cNvGrpSpPr/>
          <p:nvPr/>
        </p:nvGrpSpPr>
        <p:grpSpPr>
          <a:xfrm>
            <a:off x="411480" y="1099697"/>
            <a:ext cx="8321040" cy="1149967"/>
            <a:chOff x="411480" y="1051560"/>
            <a:chExt cx="8321040" cy="1170432"/>
          </a:xfrm>
        </p:grpSpPr>
        <p:sp>
          <p:nvSpPr>
            <p:cNvPr id="6" name="Shape 4"/>
            <p:cNvSpPr/>
            <p:nvPr/>
          </p:nvSpPr>
          <p:spPr>
            <a:xfrm>
              <a:off x="411480" y="1051560"/>
              <a:ext cx="8321040" cy="1170432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594360" y="1143000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SELECTION NO. 01</a:t>
              </a:r>
              <a:endParaRPr lang="en-US" sz="750"/>
            </a:p>
          </p:txBody>
        </p:sp>
        <p:sp>
          <p:nvSpPr>
            <p:cNvPr id="8" name="Text 6"/>
            <p:cNvSpPr/>
            <p:nvPr/>
          </p:nvSpPr>
          <p:spPr>
            <a:xfrm>
              <a:off x="594360" y="1344168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Aventus</a:t>
              </a:r>
              <a:endParaRPr lang="en-US" sz="1700"/>
            </a:p>
          </p:txBody>
        </p:sp>
        <p:sp>
          <p:nvSpPr>
            <p:cNvPr id="9" name="Text 7"/>
            <p:cNvSpPr/>
            <p:nvPr/>
          </p:nvSpPr>
          <p:spPr>
            <a:xfrm>
              <a:off x="594360" y="1819656"/>
              <a:ext cx="2286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Creed</a:t>
              </a:r>
              <a:endParaRPr lang="en-US" sz="850"/>
            </a:p>
          </p:txBody>
        </p:sp>
        <p:sp>
          <p:nvSpPr>
            <p:cNvPr id="10" name="Shape 8"/>
            <p:cNvSpPr/>
            <p:nvPr/>
          </p:nvSpPr>
          <p:spPr>
            <a:xfrm>
              <a:off x="2971800" y="123444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123444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Pineapple</a:t>
              </a:r>
              <a:endParaRPr lang="en-US" sz="750"/>
            </a:p>
          </p:txBody>
        </p:sp>
        <p:sp>
          <p:nvSpPr>
            <p:cNvPr id="12" name="Shape 10"/>
            <p:cNvSpPr/>
            <p:nvPr/>
          </p:nvSpPr>
          <p:spPr>
            <a:xfrm>
              <a:off x="4224528" y="123444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4224528" y="123444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Bergamot</a:t>
              </a:r>
              <a:endParaRPr lang="en-US" sz="750"/>
            </a:p>
          </p:txBody>
        </p:sp>
        <p:sp>
          <p:nvSpPr>
            <p:cNvPr id="14" name="Shape 12"/>
            <p:cNvSpPr/>
            <p:nvPr/>
          </p:nvSpPr>
          <p:spPr>
            <a:xfrm>
              <a:off x="5477256" y="123444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5477256" y="123444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Birch</a:t>
              </a:r>
              <a:endParaRPr lang="en-US" sz="750"/>
            </a:p>
          </p:txBody>
        </p:sp>
        <p:sp>
          <p:nvSpPr>
            <p:cNvPr id="16" name="Shape 14"/>
            <p:cNvSpPr/>
            <p:nvPr/>
          </p:nvSpPr>
          <p:spPr>
            <a:xfrm>
              <a:off x="6729984" y="123444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5"/>
            <p:cNvSpPr/>
            <p:nvPr/>
          </p:nvSpPr>
          <p:spPr>
            <a:xfrm>
              <a:off x="6729984" y="123444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Musk</a:t>
              </a:r>
              <a:endParaRPr lang="en-US" sz="750"/>
            </a:p>
          </p:txBody>
        </p:sp>
        <p:sp>
          <p:nvSpPr>
            <p:cNvPr id="18" name="Shape 16"/>
            <p:cNvSpPr/>
            <p:nvPr/>
          </p:nvSpPr>
          <p:spPr>
            <a:xfrm>
              <a:off x="8046720" y="1216152"/>
              <a:ext cx="548640" cy="256032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7"/>
            <p:cNvSpPr/>
            <p:nvPr/>
          </p:nvSpPr>
          <p:spPr>
            <a:xfrm>
              <a:off x="8046720" y="1216152"/>
              <a:ext cx="548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94%</a:t>
              </a:r>
              <a:endParaRPr lang="en-US" sz="900"/>
            </a:p>
          </p:txBody>
        </p:sp>
        <p:sp>
          <p:nvSpPr>
            <p:cNvPr id="20" name="Text 18"/>
            <p:cNvSpPr/>
            <p:nvPr/>
          </p:nvSpPr>
          <p:spPr>
            <a:xfrm>
              <a:off x="2971800" y="1536192"/>
              <a:ext cx="4983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>
                  <a:solidFill>
                    <a:srgbClr val="7A706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"A daytime winter aesthetic — birch smoke projects success."</a:t>
              </a:r>
              <a:endParaRPr lang="en-US" sz="850"/>
            </a:p>
          </p:txBody>
        </p:sp>
        <p:sp>
          <p:nvSpPr>
            <p:cNvPr id="21" name="Text 19"/>
            <p:cNvSpPr/>
            <p:nvPr/>
          </p:nvSpPr>
          <p:spPr>
            <a:xfrm>
              <a:off x="2971800" y="184708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$320.00</a:t>
              </a:r>
              <a:endParaRPr lang="en-US" sz="1100"/>
            </a:p>
          </p:txBody>
        </p:sp>
        <p:sp>
          <p:nvSpPr>
            <p:cNvPr id="22" name="Text 20"/>
            <p:cNvSpPr/>
            <p:nvPr/>
          </p:nvSpPr>
          <p:spPr>
            <a:xfrm>
              <a:off x="3931920" y="1874520"/>
              <a:ext cx="2286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Sephora  ·  WITHIN BUDGET</a:t>
              </a:r>
              <a:endParaRPr lang="en-US" sz="75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ECB281F-7721-854E-CD99-F524F29C09EE}"/>
              </a:ext>
            </a:extLst>
          </p:cNvPr>
          <p:cNvGrpSpPr/>
          <p:nvPr/>
        </p:nvGrpSpPr>
        <p:grpSpPr>
          <a:xfrm>
            <a:off x="411480" y="2392947"/>
            <a:ext cx="8321040" cy="1149967"/>
            <a:chOff x="411480" y="2377440"/>
            <a:chExt cx="8321040" cy="1170432"/>
          </a:xfrm>
        </p:grpSpPr>
        <p:sp>
          <p:nvSpPr>
            <p:cNvPr id="23" name="Shape 21"/>
            <p:cNvSpPr/>
            <p:nvPr/>
          </p:nvSpPr>
          <p:spPr>
            <a:xfrm>
              <a:off x="411480" y="2377440"/>
              <a:ext cx="8321040" cy="1170432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594360" y="2468880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SELECTION NO. 02</a:t>
              </a:r>
              <a:endParaRPr lang="en-US" sz="750"/>
            </a:p>
          </p:txBody>
        </p:sp>
        <p:sp>
          <p:nvSpPr>
            <p:cNvPr id="25" name="Text 23"/>
            <p:cNvSpPr/>
            <p:nvPr/>
          </p:nvSpPr>
          <p:spPr>
            <a:xfrm>
              <a:off x="594360" y="2670048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Oud Wood</a:t>
              </a:r>
              <a:endParaRPr lang="en-US" sz="1700"/>
            </a:p>
          </p:txBody>
        </p:sp>
        <p:sp>
          <p:nvSpPr>
            <p:cNvPr id="26" name="Text 24"/>
            <p:cNvSpPr/>
            <p:nvPr/>
          </p:nvSpPr>
          <p:spPr>
            <a:xfrm>
              <a:off x="594360" y="3145536"/>
              <a:ext cx="2286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Tom Ford</a:t>
              </a:r>
              <a:endParaRPr lang="en-US" sz="85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71800" y="256032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2971800" y="256032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Oud</a:t>
              </a:r>
              <a:endParaRPr lang="en-US" sz="750"/>
            </a:p>
          </p:txBody>
        </p:sp>
        <p:sp>
          <p:nvSpPr>
            <p:cNvPr id="29" name="Shape 27"/>
            <p:cNvSpPr/>
            <p:nvPr/>
          </p:nvSpPr>
          <p:spPr>
            <a:xfrm>
              <a:off x="4224528" y="256032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4224528" y="256032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Sandalwood</a:t>
              </a:r>
              <a:endParaRPr lang="en-US" sz="750"/>
            </a:p>
          </p:txBody>
        </p:sp>
        <p:sp>
          <p:nvSpPr>
            <p:cNvPr id="31" name="Shape 29"/>
            <p:cNvSpPr/>
            <p:nvPr/>
          </p:nvSpPr>
          <p:spPr>
            <a:xfrm>
              <a:off x="5477256" y="256032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5477256" y="256032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Rosewood</a:t>
              </a:r>
              <a:endParaRPr lang="en-US" sz="750"/>
            </a:p>
          </p:txBody>
        </p:sp>
        <p:sp>
          <p:nvSpPr>
            <p:cNvPr id="33" name="Shape 31"/>
            <p:cNvSpPr/>
            <p:nvPr/>
          </p:nvSpPr>
          <p:spPr>
            <a:xfrm>
              <a:off x="6729984" y="256032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6729984" y="256032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Amber</a:t>
              </a:r>
              <a:endParaRPr lang="en-US" sz="750"/>
            </a:p>
          </p:txBody>
        </p:sp>
        <p:sp>
          <p:nvSpPr>
            <p:cNvPr id="35" name="Shape 33"/>
            <p:cNvSpPr/>
            <p:nvPr/>
          </p:nvSpPr>
          <p:spPr>
            <a:xfrm>
              <a:off x="8046720" y="2542032"/>
              <a:ext cx="548640" cy="256032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8046720" y="2542032"/>
              <a:ext cx="548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87%</a:t>
              </a:r>
              <a:endParaRPr lang="en-US" sz="900"/>
            </a:p>
          </p:txBody>
        </p:sp>
        <p:sp>
          <p:nvSpPr>
            <p:cNvPr id="37" name="Text 35"/>
            <p:cNvSpPr/>
            <p:nvPr/>
          </p:nvSpPr>
          <p:spPr>
            <a:xfrm>
              <a:off x="2971800" y="2862072"/>
              <a:ext cx="4983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>
                  <a:solidFill>
                    <a:srgbClr val="7A706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"Formal evening silhouette — resinous warmth for smart casual."</a:t>
              </a:r>
              <a:endParaRPr lang="en-US" sz="850"/>
            </a:p>
          </p:txBody>
        </p:sp>
        <p:sp>
          <p:nvSpPr>
            <p:cNvPr id="38" name="Text 36"/>
            <p:cNvSpPr/>
            <p:nvPr/>
          </p:nvSpPr>
          <p:spPr>
            <a:xfrm>
              <a:off x="2971800" y="317296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$195.00</a:t>
              </a:r>
              <a:endParaRPr lang="en-US" sz="1100"/>
            </a:p>
          </p:txBody>
        </p:sp>
        <p:sp>
          <p:nvSpPr>
            <p:cNvPr id="39" name="Text 37"/>
            <p:cNvSpPr/>
            <p:nvPr/>
          </p:nvSpPr>
          <p:spPr>
            <a:xfrm>
              <a:off x="3931920" y="3200400"/>
              <a:ext cx="2286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Nordstrom  ·  WITHIN BUDGET</a:t>
              </a:r>
              <a:endParaRPr lang="en-US" sz="75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B2E05C1-7782-9EE6-A579-EF82EE16A4B4}"/>
              </a:ext>
            </a:extLst>
          </p:cNvPr>
          <p:cNvGrpSpPr/>
          <p:nvPr/>
        </p:nvGrpSpPr>
        <p:grpSpPr>
          <a:xfrm>
            <a:off x="411480" y="3719765"/>
            <a:ext cx="8321040" cy="1149967"/>
            <a:chOff x="411480" y="3703320"/>
            <a:chExt cx="8321040" cy="1170432"/>
          </a:xfrm>
        </p:grpSpPr>
        <p:sp>
          <p:nvSpPr>
            <p:cNvPr id="40" name="Shape 38"/>
            <p:cNvSpPr/>
            <p:nvPr/>
          </p:nvSpPr>
          <p:spPr>
            <a:xfrm>
              <a:off x="411480" y="3703320"/>
              <a:ext cx="8321040" cy="1170432"/>
            </a:xfrm>
            <a:prstGeom prst="rect">
              <a:avLst/>
            </a:prstGeom>
            <a:solidFill>
              <a:srgbClr val="1E1E1E"/>
            </a:solidFill>
            <a:ln w="6350">
              <a:solidFill>
                <a:srgbClr val="3A3530"/>
              </a:solidFill>
              <a:prstDash val="solid"/>
            </a:ln>
            <a:effectLst>
              <a:outerShdw blurRad="177800" dist="50800" dir="8100000" algn="bl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594360" y="3794760"/>
              <a:ext cx="1645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50">
                  <a:solidFill>
                    <a:srgbClr val="C9A9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SELECTION NO. 03</a:t>
              </a:r>
              <a:endParaRPr lang="en-US" sz="750"/>
            </a:p>
          </p:txBody>
        </p:sp>
        <p:sp>
          <p:nvSpPr>
            <p:cNvPr id="42" name="Text 40"/>
            <p:cNvSpPr/>
            <p:nvPr/>
          </p:nvSpPr>
          <p:spPr>
            <a:xfrm>
              <a:off x="594360" y="3995928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>
                  <a:solidFill>
                    <a:srgbClr val="F5F0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Baccarat Rouge 540</a:t>
              </a:r>
              <a:endParaRPr lang="en-US" sz="1700"/>
            </a:p>
          </p:txBody>
        </p:sp>
        <p:sp>
          <p:nvSpPr>
            <p:cNvPr id="43" name="Text 41"/>
            <p:cNvSpPr/>
            <p:nvPr/>
          </p:nvSpPr>
          <p:spPr>
            <a:xfrm>
              <a:off x="594360" y="4471416"/>
              <a:ext cx="2286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>
                  <a:solidFill>
                    <a:srgbClr val="7A70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Maison F. Kurkdjian</a:t>
              </a:r>
              <a:endParaRPr lang="en-US" sz="850"/>
            </a:p>
          </p:txBody>
        </p:sp>
        <p:sp>
          <p:nvSpPr>
            <p:cNvPr id="44" name="Shape 42"/>
            <p:cNvSpPr/>
            <p:nvPr/>
          </p:nvSpPr>
          <p:spPr>
            <a:xfrm>
              <a:off x="2971800" y="388620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2971800" y="388620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Jasmine</a:t>
              </a:r>
              <a:endParaRPr lang="en-US" sz="750"/>
            </a:p>
          </p:txBody>
        </p:sp>
        <p:sp>
          <p:nvSpPr>
            <p:cNvPr id="46" name="Shape 44"/>
            <p:cNvSpPr/>
            <p:nvPr/>
          </p:nvSpPr>
          <p:spPr>
            <a:xfrm>
              <a:off x="4224528" y="388620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4224528" y="388620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Saffron</a:t>
              </a:r>
              <a:endParaRPr lang="en-US" sz="750"/>
            </a:p>
          </p:txBody>
        </p:sp>
        <p:sp>
          <p:nvSpPr>
            <p:cNvPr id="48" name="Shape 46"/>
            <p:cNvSpPr/>
            <p:nvPr/>
          </p:nvSpPr>
          <p:spPr>
            <a:xfrm>
              <a:off x="5477256" y="388620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5477256" y="388620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Amberwood</a:t>
              </a:r>
              <a:endParaRPr lang="en-US" sz="750"/>
            </a:p>
          </p:txBody>
        </p:sp>
        <p:sp>
          <p:nvSpPr>
            <p:cNvPr id="50" name="Shape 48"/>
            <p:cNvSpPr/>
            <p:nvPr/>
          </p:nvSpPr>
          <p:spPr>
            <a:xfrm>
              <a:off x="6729984" y="3886200"/>
              <a:ext cx="1143000" cy="228600"/>
            </a:xfrm>
            <a:prstGeom prst="rect">
              <a:avLst/>
            </a:prstGeom>
            <a:solidFill>
              <a:srgbClr val="3A353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49"/>
            <p:cNvSpPr/>
            <p:nvPr/>
          </p:nvSpPr>
          <p:spPr>
            <a:xfrm>
              <a:off x="6729984" y="3886200"/>
              <a:ext cx="1143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Fir</a:t>
              </a:r>
              <a:endParaRPr lang="en-US" sz="750"/>
            </a:p>
          </p:txBody>
        </p:sp>
        <p:sp>
          <p:nvSpPr>
            <p:cNvPr id="52" name="Shape 50"/>
            <p:cNvSpPr/>
            <p:nvPr/>
          </p:nvSpPr>
          <p:spPr>
            <a:xfrm>
              <a:off x="8046720" y="3867912"/>
              <a:ext cx="548640" cy="256032"/>
            </a:xfrm>
            <a:prstGeom prst="rect">
              <a:avLst/>
            </a:prstGeom>
            <a:solidFill>
              <a:srgbClr val="8A6E3E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8046720" y="3867912"/>
              <a:ext cx="548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81%</a:t>
              </a:r>
              <a:endParaRPr lang="en-US" sz="900"/>
            </a:p>
          </p:txBody>
        </p:sp>
        <p:sp>
          <p:nvSpPr>
            <p:cNvPr id="54" name="Text 52"/>
            <p:cNvSpPr/>
            <p:nvPr/>
          </p:nvSpPr>
          <p:spPr>
            <a:xfrm>
              <a:off x="2971800" y="4187952"/>
              <a:ext cx="49834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i="1">
                  <a:solidFill>
                    <a:srgbClr val="7A706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"Luminous crystalline amber — commands every room."</a:t>
              </a:r>
              <a:endParaRPr lang="en-US" sz="850"/>
            </a:p>
          </p:txBody>
        </p:sp>
        <p:sp>
          <p:nvSpPr>
            <p:cNvPr id="55" name="Text 53"/>
            <p:cNvSpPr/>
            <p:nvPr/>
          </p:nvSpPr>
          <p:spPr>
            <a:xfrm>
              <a:off x="2971800" y="4498848"/>
              <a:ext cx="9144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F5F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$340.00</a:t>
              </a:r>
              <a:endParaRPr lang="en-US" sz="1100"/>
            </a:p>
          </p:txBody>
        </p:sp>
        <p:sp>
          <p:nvSpPr>
            <p:cNvPr id="56" name="Text 54"/>
            <p:cNvSpPr/>
            <p:nvPr/>
          </p:nvSpPr>
          <p:spPr>
            <a:xfrm>
              <a:off x="3931920" y="4526280"/>
              <a:ext cx="22860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b="1" kern="0" spc="100">
                  <a:solidFill>
                    <a:srgbClr val="4EA8A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Bloomingdale's  ·  WITHIN BUDGET</a:t>
              </a:r>
              <a:endParaRPr lang="en-US" sz="7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>
                <a:solidFill>
                  <a:srgbClr val="7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VibeScent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Future Directions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77640" cy="3516989"/>
          </a:xfrm>
          <a:prstGeom prst="rect">
            <a:avLst/>
          </a:prstGeom>
          <a:solidFill>
            <a:srgbClr val="161616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kern="0" spc="3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700"/>
          </a:p>
        </p:txBody>
      </p:sp>
      <p:sp>
        <p:nvSpPr>
          <p:cNvPr id="6" name="Text 4"/>
          <p:cNvSpPr/>
          <p:nvPr/>
        </p:nvSpPr>
        <p:spPr>
          <a:xfrm>
            <a:off x="640080" y="1316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Summary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enriched dataset of 36,000 fragrances across 500 clusters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58368" y="21945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CLIP classifier with prompt-engineered vibe embeddings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58368" y="256032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for semantic description matching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658368" y="29260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5-dimensional structured vibe vector constructed from user input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658368" y="32918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rank and recommendation system using cosine similarity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658368" y="36576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discovery via </a:t>
            </a:r>
            <a:r>
              <a:rPr lang="en-US" sz="900" err="1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Google Shopping engine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58368" y="402336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0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matching fragrances to match the user’s outfit and occasion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3977640" cy="3516989"/>
          </a:xfrm>
          <a:prstGeom prst="rect">
            <a:avLst/>
          </a:prstGeom>
          <a:solidFill>
            <a:srgbClr val="161616"/>
          </a:solidFill>
          <a:ln w="6350">
            <a:solidFill>
              <a:srgbClr val="3A3530"/>
            </a:solidFill>
            <a:prstDash val="solid"/>
          </a:ln>
          <a:effectLst>
            <a:outerShdw blurRad="1778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1097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kern="0" spc="30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700"/>
          </a:p>
        </p:txBody>
      </p:sp>
      <p:sp>
        <p:nvSpPr>
          <p:cNvPr id="16" name="Text 14"/>
          <p:cNvSpPr/>
          <p:nvPr/>
        </p:nvSpPr>
        <p:spPr>
          <a:xfrm>
            <a:off x="4983480" y="1316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Evolution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5001768" y="1828800"/>
            <a:ext cx="658368" cy="237744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01768" y="18288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00"/>
          </a:p>
        </p:txBody>
      </p:sp>
      <p:sp>
        <p:nvSpPr>
          <p:cNvPr id="19" name="Text 17"/>
          <p:cNvSpPr/>
          <p:nvPr/>
        </p:nvSpPr>
        <p:spPr>
          <a:xfrm>
            <a:off x="5715000" y="17922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fragrance database for popular fragrances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5001768" y="2194560"/>
            <a:ext cx="658368" cy="237744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01768" y="2194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700"/>
          </a:p>
        </p:txBody>
      </p:sp>
      <p:sp>
        <p:nvSpPr>
          <p:cNvPr id="22" name="Text 20"/>
          <p:cNvSpPr/>
          <p:nvPr/>
        </p:nvSpPr>
        <p:spPr>
          <a:xfrm>
            <a:off x="5715000" y="214711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smarter model or enrich fragrance data individually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5001768" y="2560320"/>
            <a:ext cx="658368" cy="237744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01768" y="25603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EA8A0"/>
                </a:solidFill>
                <a:latin typeface="Calibri" pitchFamily="34" charset="0"/>
                <a:cs typeface="Calibri" pitchFamily="34" charset="-120"/>
              </a:rPr>
              <a:t>CLIP</a:t>
            </a:r>
            <a:endParaRPr lang="en-US" sz="700"/>
          </a:p>
        </p:txBody>
      </p:sp>
      <p:sp>
        <p:nvSpPr>
          <p:cNvPr id="25" name="Text 23"/>
          <p:cNvSpPr/>
          <p:nvPr/>
        </p:nvSpPr>
        <p:spPr>
          <a:xfrm>
            <a:off x="5715000" y="251287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CLIP on outfit data and associated vibes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001768" y="2926080"/>
            <a:ext cx="658368" cy="237744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01768" y="29260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err="1">
                <a:solidFill>
                  <a:srgbClr val="4EA8A0"/>
                </a:solidFill>
                <a:latin typeface="Calibri" pitchFamily="34" charset="0"/>
                <a:cs typeface="Calibri" pitchFamily="34" charset="-120"/>
              </a:rPr>
              <a:t>MiniLM</a:t>
            </a:r>
            <a:endParaRPr lang="en-US" sz="700"/>
          </a:p>
        </p:txBody>
      </p:sp>
      <p:sp>
        <p:nvSpPr>
          <p:cNvPr id="28" name="Text 26"/>
          <p:cNvSpPr/>
          <p:nvPr/>
        </p:nvSpPr>
        <p:spPr>
          <a:xfrm>
            <a:off x="5715000" y="287863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sentence transformer on fragrance language</a:t>
            </a:r>
            <a:endParaRPr lang="en-US" sz="850"/>
          </a:p>
        </p:txBody>
      </p:sp>
      <p:sp>
        <p:nvSpPr>
          <p:cNvPr id="29" name="Shape 27"/>
          <p:cNvSpPr/>
          <p:nvPr/>
        </p:nvSpPr>
        <p:spPr>
          <a:xfrm>
            <a:off x="5001768" y="3291840"/>
            <a:ext cx="658368" cy="237744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01768" y="32918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4EA8A0"/>
                </a:solidFill>
                <a:latin typeface="Calibri" pitchFamily="34" charset="0"/>
                <a:cs typeface="Calibri" pitchFamily="34" charset="-120"/>
              </a:rPr>
              <a:t>Vibe</a:t>
            </a:r>
            <a:endParaRPr lang="en-US" sz="700"/>
          </a:p>
        </p:txBody>
      </p:sp>
      <p:sp>
        <p:nvSpPr>
          <p:cNvPr id="31" name="Text 29"/>
          <p:cNvSpPr/>
          <p:nvPr/>
        </p:nvSpPr>
        <p:spPr>
          <a:xfrm>
            <a:off x="5715000" y="324439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vibe dimensions to represent fragrances better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5001768" y="3657600"/>
            <a:ext cx="658368" cy="237744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01768" y="36576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b="1">
                <a:solidFill>
                  <a:srgbClr val="4EA8A0"/>
                </a:solidFill>
                <a:latin typeface="Calibri" pitchFamily="34" charset="0"/>
                <a:cs typeface="Calibri" pitchFamily="34" charset="-120"/>
              </a:rPr>
              <a:t>Recommend</a:t>
            </a:r>
            <a:endParaRPr lang="en-US" sz="700"/>
          </a:p>
        </p:txBody>
      </p:sp>
      <p:sp>
        <p:nvSpPr>
          <p:cNvPr id="34" name="Text 32"/>
          <p:cNvSpPr/>
          <p:nvPr/>
        </p:nvSpPr>
        <p:spPr>
          <a:xfrm>
            <a:off x="5715000" y="361015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other pieces to increase model accuracy</a:t>
            </a:r>
            <a:endParaRPr lang="en-US" sz="850"/>
          </a:p>
        </p:txBody>
      </p:sp>
      <p:sp>
        <p:nvSpPr>
          <p:cNvPr id="35" name="Shape 33"/>
          <p:cNvSpPr/>
          <p:nvPr/>
        </p:nvSpPr>
        <p:spPr>
          <a:xfrm>
            <a:off x="5001768" y="4023360"/>
            <a:ext cx="658368" cy="237744"/>
          </a:xfrm>
          <a:prstGeom prst="rect">
            <a:avLst/>
          </a:prstGeom>
          <a:solidFill>
            <a:srgbClr val="3A35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01768" y="40233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" b="1" err="1">
                <a:solidFill>
                  <a:srgbClr val="4E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Webscrape</a:t>
            </a:r>
            <a:endParaRPr lang="en-US" sz="700"/>
          </a:p>
        </p:txBody>
      </p:sp>
      <p:sp>
        <p:nvSpPr>
          <p:cNvPr id="37" name="Text 35"/>
          <p:cNvSpPr/>
          <p:nvPr/>
        </p:nvSpPr>
        <p:spPr>
          <a:xfrm>
            <a:off x="5715000" y="3975915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recommend and search for popular fragrances 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8A6E3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Dress for the occasion.  Scent it perfectly.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1146</Words>
  <Application>Microsoft Macintosh PowerPoint</Application>
  <PresentationFormat>On-screen Show (16:9)</PresentationFormat>
  <Paragraphs>301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Georgia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VibeScent — Multimodal Fragrance Recommendation</dc:title>
  <dc:subject>PptxGenJS Presentation</dc:subject>
  <dc:creator>PptxGenJS</dc:creator>
  <cp:lastModifiedBy>Darren Nguyen</cp:lastModifiedBy>
  <cp:revision>1</cp:revision>
  <dcterms:created xsi:type="dcterms:W3CDTF">2026-04-20T02:54:52Z</dcterms:created>
  <dcterms:modified xsi:type="dcterms:W3CDTF">2026-04-21T23:24:18Z</dcterms:modified>
</cp:coreProperties>
</file>